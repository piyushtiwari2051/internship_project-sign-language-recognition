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3" r:id="rId2"/>
    <p:sldId id="274" r:id="rId8"/>
    <p:sldId id="275" r:id="rId9"/>
    <p:sldId id="276" r:id="rId7"/>
    <p:sldId id="277" r:id="rId6"/>
    <p:sldId id="278" r:id="rId5"/>
    <p:sldId id="279" r:id="rId4"/>
    <p:sldId id="280" r:id="rId3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9144000" cy="6858000" type="screen4x3"/>
  <p:notesSz cx="6858000" cy="9144000"/>
  <p:defaultTextStyle>
    <a:defPPr>
      <a:defRPr lang="en-GB"/>
    </a:defPPr>
    <a:lvl1pPr marL="0" lvl="0" indent="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xmlns="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516" y="49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125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1260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pPr lvl="0" algn="r" defTabSz="449580" eaLnBrk="1" hangingPunct="1"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6148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6149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5813" cy="5849937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49937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 defTabSz="449580" eaLnBrk="1" hangingPunct="1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/>
          <p:nvPr/>
        </p:nvSpPr>
        <p:spPr>
          <a:xfrm>
            <a:off x="228600" y="304800"/>
            <a:ext cx="86106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Assessment </a:t>
            </a:r>
          </a:p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(Summer Internship</a:t>
            </a: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051" name="Text Box 2"/>
          <p:cNvSpPr txBox="1"/>
          <p:nvPr/>
        </p:nvSpPr>
        <p:spPr>
          <a:xfrm>
            <a:off x="3505200" y="3429000"/>
            <a:ext cx="5486400" cy="1371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By                    Supervised By</a:t>
            </a: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Piyush Tiwari        	Name of Supervisor</a:t>
            </a: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2100270100000</a:t>
            </a:r>
            <a:r>
              <a:rPr lang="en-I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7</a:t>
            </a:r>
            <a:r>
              <a:rPr lang="en-IN" altLang="en-US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Sem, CSE-1              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Department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CSE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2" name="Text Box 3"/>
          <p:cNvSpPr txBox="1"/>
          <p:nvPr/>
        </p:nvSpPr>
        <p:spPr>
          <a:xfrm>
            <a:off x="228600" y="3429000"/>
            <a:ext cx="34290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To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      Mr. Basudeo Singh Roohani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Ms. Swati Singh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(Internship Coordinators)</a:t>
            </a: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3" name="Text Box 4"/>
          <p:cNvSpPr txBox="1"/>
          <p:nvPr/>
        </p:nvSpPr>
        <p:spPr>
          <a:xfrm>
            <a:off x="609600" y="5334000"/>
            <a:ext cx="77724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Computer Science &amp; Engineering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IMS Engineering College, Ghaziabad, India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2026-27)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4" name="Text Box 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IN" altLang="en-US" sz="1200" dirty="0">
                <a:solidFill>
                  <a:srgbClr val="898989"/>
                </a:solidFill>
                <a:latin typeface="Arial" panose="020B0604020202020204" pitchFamily="34" charset="0"/>
              </a:rPr>
              <a:pPr algn="r" defTabSz="44958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IN" altLang="en-US" sz="1200" dirty="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05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5" y="152400"/>
            <a:ext cx="1795463" cy="1846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6" name="TextBox 1"/>
          <p:cNvSpPr txBox="1"/>
          <p:nvPr/>
        </p:nvSpPr>
        <p:spPr>
          <a:xfrm>
            <a:off x="3238500" y="1143000"/>
            <a:ext cx="2667000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ctr" eaLnBrk="0" hangingPunct="0"/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7" name="TextBox 8"/>
          <p:cNvSpPr txBox="1"/>
          <p:nvPr/>
        </p:nvSpPr>
        <p:spPr>
          <a:xfrm>
            <a:off x="2667000" y="2057400"/>
            <a:ext cx="37338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x-none" b="1" dirty="0">
                <a:solidFill>
                  <a:schemeClr val="tx1"/>
                </a:solidFill>
                <a:latin typeface="Arial" panose="020B0604020202020204" pitchFamily="34" charset="0"/>
              </a:rPr>
              <a:t>On</a:t>
            </a:r>
          </a:p>
          <a:p>
            <a:pPr algn="ctr">
              <a:defRPr sz="2000" b="1">
                <a:solidFill>
                  <a:srgbClr val="FF0000"/>
                </a:solidFill>
                <a:latin typeface="Calibri"/>
              </a:defRPr>
            </a:pPr>
            <a:r>
              <a:t>Real-Time Sign Language Recognition &amp; Translation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Outline &amp;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1. Introduction &amp; Objectives: </a:t>
            </a:r>
            <a:r>
              <a:rPr sz="1600" b="0">
                <a:solidFill>
                  <a:srgbClr val="334155"/>
                </a:solidFill>
                <a:latin typeface="Calibri"/>
              </a:rPr>
              <a:t>Domain of work, assistive AI technology &amp; project goals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2. Problem Statement: </a:t>
            </a:r>
            <a:r>
              <a:rPr sz="1600" b="0">
                <a:solidFill>
                  <a:srgbClr val="334155"/>
                </a:solidFill>
                <a:latin typeface="Calibri"/>
              </a:rPr>
              <a:t>Challenges in sign language translation &amp; pixel-level limitations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3. Requirement Analysis: </a:t>
            </a:r>
            <a:r>
              <a:rPr sz="1600" b="0">
                <a:solidFill>
                  <a:srgbClr val="334155"/>
                </a:solidFill>
                <a:latin typeface="Calibri"/>
              </a:rPr>
              <a:t>Hardware setup &amp; software stack (MediaPipe, TensorFlow, OpenCV)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4. System Architecture: </a:t>
            </a:r>
            <a:r>
              <a:rPr sz="1600" b="0">
                <a:solidFill>
                  <a:srgbClr val="334155"/>
                </a:solidFill>
                <a:latin typeface="Calibri"/>
              </a:rPr>
              <a:t>End-to-end data pipeline flow &amp; system module design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5. Keypoint Extraction: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Spatial landmark extraction (Hands &amp; Pose)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6. Dataset &amp; Feature Details: </a:t>
            </a:r>
            <a:r>
              <a:rPr sz="1600" b="0">
                <a:solidFill>
                  <a:srgbClr val="334155"/>
                </a:solidFill>
                <a:latin typeface="Calibri"/>
              </a:rPr>
              <a:t>Sliding window aggregation (18 statistical features)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7. Sequence LSTM Classifier: </a:t>
            </a:r>
            <a:r>
              <a:rPr sz="1600" b="0">
                <a:solidFill>
                  <a:srgbClr val="334155"/>
                </a:solidFill>
                <a:latin typeface="Calibri"/>
              </a:rPr>
              <a:t>Multi-layer LSTM model architecture &amp; loss optimization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8. Desktop GUI &amp; Speech Translation: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Native Python Tkinter app &amp; Pyttsx3 speech synthesis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9. Results &amp; Performance Analysis: </a:t>
            </a:r>
            <a:r>
              <a:rPr sz="1600" b="0">
                <a:solidFill>
                  <a:srgbClr val="334155"/>
                </a:solidFill>
                <a:latin typeface="Calibri"/>
              </a:rPr>
              <a:t>Accuracy (98.67%), F1-Score (0.99), &amp; per-class table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10. Conclusion &amp; References: </a:t>
            </a:r>
            <a:r>
              <a:rPr sz="1600" b="0">
                <a:solidFill>
                  <a:srgbClr val="334155"/>
                </a:solidFill>
                <a:latin typeface="Calibri"/>
              </a:rPr>
              <a:t>Summary of achievements, future scope &amp; academic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Domain of Work: </a:t>
            </a:r>
            <a:r>
              <a:rPr sz="1600" b="0">
                <a:solidFill>
                  <a:srgbClr val="334155"/>
                </a:solidFill>
                <a:latin typeface="Calibri"/>
              </a:rPr>
              <a:t>Computer Vision, Deep Learning &amp; Accessibility Assistive Technology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Social Relevance: </a:t>
            </a:r>
            <a:r>
              <a:rPr sz="1600" b="0">
                <a:solidFill>
                  <a:srgbClr val="334155"/>
                </a:solidFill>
                <a:latin typeface="Calibri"/>
              </a:rPr>
              <a:t>Over 70 million deaf individuals globally rely on sign language for daily communication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Primary Objective: </a:t>
            </a:r>
            <a:r>
              <a:rPr sz="1600" b="0">
                <a:solidFill>
                  <a:srgbClr val="334155"/>
                </a:solidFill>
                <a:latin typeface="Calibri"/>
              </a:rPr>
              <a:t>Develop a real-time, non-invasive translation system converting webcam gestures into text &amp; voice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Key Approach: </a:t>
            </a:r>
            <a:r>
              <a:rPr sz="1600" b="0">
                <a:solidFill>
                  <a:srgbClr val="334155"/>
                </a:solidFill>
                <a:latin typeface="Calibri"/>
              </a:rPr>
              <a:t>Extract compact 3D spatial keypoints per frame and classify keypoint sequences using an LSTM model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Integrate Text-to-Speech (TTS) audio output for seamless real-time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Raw Video Heavy &amp; Noisy: </a:t>
            </a:r>
            <a:r>
              <a:rPr sz="1600" b="0">
                <a:solidFill>
                  <a:srgbClr val="334155"/>
                </a:solidFill>
                <a:latin typeface="Calibri"/>
              </a:rPr>
              <a:t>Raw video frames contain high spatial redundancy, background noise, and heavy memory cost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Limitations of Existing CNN Methods: </a:t>
            </a:r>
            <a:r>
              <a:rPr sz="1600" b="0">
                <a:solidFill>
                  <a:srgbClr val="334155"/>
                </a:solidFill>
                <a:latin typeface="Calibri"/>
              </a:rPr>
              <a:t>Direct frame-by-frame CNN classifiers fail on temporal gesture dynamics and suffer from high latency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Signer Position Dependency: </a:t>
            </a:r>
            <a:r>
              <a:rPr sz="1600" b="0">
                <a:solidFill>
                  <a:srgbClr val="334155"/>
                </a:solidFill>
                <a:latin typeface="Calibri"/>
              </a:rPr>
              <a:t>Raw pixel models degrade when signer distance, clothing, or background lighting changes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Our Proposed Solution: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Replace raw pixels with 3D pose/hand keypoint sequences, ensuring position scale invariance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Real-Time Constraint: </a:t>
            </a:r>
            <a:r>
              <a:rPr sz="1600" b="0">
                <a:solidFill>
                  <a:srgbClr val="334155"/>
                </a:solidFill>
                <a:latin typeface="Calibri"/>
              </a:rPr>
              <a:t>Achieve fast sub-50ms inference latency suitable for continuous live webcam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Requirement Analysis (S/W &amp; H/W)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Hardware Requirements: </a:t>
            </a:r>
            <a:r>
              <a:rPr sz="1600" b="0">
                <a:solidFill>
                  <a:srgbClr val="334155"/>
                </a:solidFill>
                <a:latin typeface="Calibri"/>
              </a:rPr>
              <a:t>Standard HD Webcam (640x480 resolution @ 15+ FPS), Intel Core i5/i7, 8GB RAM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Programming Language: </a:t>
            </a:r>
            <a:r>
              <a:rPr sz="1600" b="0">
                <a:solidFill>
                  <a:srgbClr val="334155"/>
                </a:solidFill>
                <a:latin typeface="Calibri"/>
              </a:rPr>
              <a:t>Python 3.11 (Core logic, OpenCV capture, &amp; deep learning execution)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Computer Vision Library: </a:t>
            </a:r>
            <a:r>
              <a:rPr sz="1600" b="0">
                <a:solidFill>
                  <a:srgbClr val="334155"/>
                </a:solidFill>
                <a:latin typeface="Calibri"/>
              </a:rPr>
              <a:t>Google MediaPipe 0.10.21 (Fingertip &amp; upper-body pose landmark extraction)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Deep Learning Framework: </a:t>
            </a:r>
            <a:r>
              <a:rPr sz="1600" b="0">
                <a:solidFill>
                  <a:srgbClr val="334155"/>
                </a:solidFill>
                <a:latin typeface="Calibri"/>
              </a:rPr>
              <a:t>TensorFlow 2.17 &amp; Keras 3.3 (Multi-layer LSTM model training &amp; inference)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User Interface &amp; Audio Engine: </a:t>
            </a:r>
            <a:r>
              <a:rPr sz="1600" b="0">
                <a:solidFill>
                  <a:srgbClr val="334155"/>
                </a:solidFill>
                <a:latin typeface="Calibri"/>
              </a:rPr>
              <a:t>Python Native Tkinter GUI framework &amp; Pyttsx3 Text-to-Speech audio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System Methodology &amp; Data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6EFD"/>
                </a:solidFill>
                <a:latin typeface="Calibri"/>
              </a:defRPr>
            </a:pPr>
            <a:r>
              <a:t>STAGE 1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Webcam Capture</a:t>
            </a:r>
            <a:br/>
            <a:r>
              <a:t>(640x480 @ 15 FPS)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1920240"/>
            <a:ext cx="457200" cy="274320"/>
          </a:xfrm>
          <a:prstGeom prst="rightArrow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B5CF6"/>
                </a:solidFill>
                <a:latin typeface="Calibri"/>
              </a:defRPr>
            </a:pPr>
            <a:r>
              <a:t>STAGE 2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MediaPipe Extraction</a:t>
            </a:r>
            <a:br/>
            <a:r>
              <a:t>(Hands &amp; Pose Joints)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32120" y="1920240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6EFD"/>
                </a:solidFill>
                <a:latin typeface="Calibri"/>
              </a:defRPr>
            </a:pPr>
            <a:r>
              <a:t>STAGE 3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Sliding Window</a:t>
            </a:r>
            <a:br/>
            <a:r>
              <a:t>(0.5s Feature Aggregation)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STAGE 4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Normalization</a:t>
            </a:r>
            <a:br/>
            <a:r>
              <a:t>(StandardScaler Normalizer)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4023359"/>
            <a:ext cx="457200" cy="27432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B5CF6"/>
                </a:solidFill>
                <a:latin typeface="Calibri"/>
              </a:defRPr>
            </a:pPr>
            <a:r>
              <a:t>STAGE 5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LSTM Sequence Net</a:t>
            </a:r>
            <a:br/>
            <a:r>
              <a:t>(5-Window Input Tensor)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32120" y="4023359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STAGE 6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GUI &amp; Audio Speech</a:t>
            </a:r>
            <a:br/>
            <a:r>
              <a:t>(Hero Box + Pyttsx3 TTS)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34155"/>
                </a:solidFill>
                <a:latin typeface="Calibri"/>
              </a:defRPr>
            </a:pPr>
            <a:r>
              <a:t>Figure 1: End-to-End Real-Time Gesture Recognition Data Flow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Keypoint Extraction &amp;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Hand Landmarks Extraction: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Extracts 5 fingertip joints (thumb, index, middle, ring, pinky) per hand (X, Y, Z coordinates)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Upper-Body Pose Landmarks: </a:t>
            </a:r>
            <a:r>
              <a:rPr sz="1600" b="0">
                <a:solidFill>
                  <a:srgbClr val="334155"/>
                </a:solidFill>
                <a:latin typeface="Calibri"/>
              </a:rPr>
              <a:t>Extracts 6 upper-body joints (shoulders, elbows, wrists) for posture tracking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Statistical Feature Aggregation: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Computes Mean and Standard Deviation per 0.5s sliding window (~7-8 frames)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Scale &amp; Position Invariance: </a:t>
            </a:r>
            <a:r>
              <a:rPr sz="1600" b="0">
                <a:solidFill>
                  <a:srgbClr val="334155"/>
                </a:solidFill>
                <a:latin typeface="Calibri"/>
              </a:rPr>
              <a:t>StandardScaler normalization ensures robustness regardless of signer camera distance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Compact Vector Dimension: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Reduces full video frame data into a compact 18-element feature vector per window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Dataset &amp; Feature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Dataset Size &amp; Support: </a:t>
            </a:r>
            <a:r>
              <a:rPr sz="1600" b="0">
                <a:solidFill>
                  <a:srgbClr val="334155"/>
                </a:solidFill>
                <a:latin typeface="Calibri"/>
              </a:rPr>
              <a:t>Curated dataset containing 3,690 gesture sequence samples across 11 sign classes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Target Sign Vocabulary: </a:t>
            </a:r>
            <a:r>
              <a:rPr sz="1600" b="0">
                <a:solidFill>
                  <a:srgbClr val="334155"/>
                </a:solidFill>
                <a:latin typeface="Calibri"/>
              </a:rPr>
              <a:t>Afternoon, Age, Boy, Country, Day, Monday, Name, Night, People, Person, Time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Temporal Window Length: </a:t>
            </a:r>
            <a:r>
              <a:rPr sz="1600" b="0">
                <a:solidFill>
                  <a:srgbClr val="334155"/>
                </a:solidFill>
                <a:latin typeface="Calibri"/>
              </a:rPr>
              <a:t>Fixed 0.5-second sliding window duration (target sampling rate: 15 FPS)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Sequence Stacking: </a:t>
            </a:r>
            <a:r>
              <a:rPr sz="1600" b="0">
                <a:solidFill>
                  <a:srgbClr val="334155"/>
                </a:solidFill>
                <a:latin typeface="Calibri"/>
              </a:rPr>
              <a:t>5 consecutive feature windows stacked into an input matrix of shape (1, 5, 18)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Database Storage: </a:t>
            </a:r>
            <a:r>
              <a:rPr sz="1600" b="0">
                <a:solidFill>
                  <a:srgbClr val="334155"/>
                </a:solidFill>
                <a:latin typeface="Calibri"/>
              </a:rPr>
              <a:t>Stored using SQLite schema tracking video metadata, frame landmarks, and feature matrices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Sequence LSTM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Input Layer Shape: </a:t>
            </a:r>
            <a:r>
              <a:rPr sz="1600" b="0">
                <a:solidFill>
                  <a:srgbClr val="334155"/>
                </a:solidFill>
                <a:latin typeface="Calibri"/>
              </a:rPr>
              <a:t>(5, 18) representing 5 time-step windows of 18 normalized keypoint features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LSTM Layer 1: </a:t>
            </a:r>
            <a:r>
              <a:rPr sz="1600" b="0">
                <a:solidFill>
                  <a:srgbClr val="334155"/>
                </a:solidFill>
                <a:latin typeface="Calibri"/>
              </a:rPr>
              <a:t>128 Recurrent LSTM Units with Dropout (0.3) &amp; Batch Normalization for regularization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LSTM Layer 2: </a:t>
            </a:r>
            <a:r>
              <a:rPr sz="1600" b="0">
                <a:solidFill>
                  <a:srgbClr val="334155"/>
                </a:solidFill>
                <a:latin typeface="Calibri"/>
              </a:rPr>
              <a:t>64 Recurrent LSTM Units capturing higher-level temporal gesture dynamics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Dense Classification Layer: </a:t>
            </a:r>
            <a:r>
              <a:rPr sz="1600" b="0">
                <a:solidFill>
                  <a:srgbClr val="334155"/>
                </a:solidFill>
                <a:latin typeface="Calibri"/>
              </a:rPr>
              <a:t>64 Dense Neurons with ReLU activation &amp; Dropout (0.3)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Output Softmax Layer: </a:t>
            </a:r>
            <a:r>
              <a:rPr sz="1600" b="0">
                <a:solidFill>
                  <a:srgbClr val="334155"/>
                </a:solidFill>
                <a:latin typeface="Calibri"/>
              </a:rPr>
              <a:t>11 Output Neurons producing Softmax confidence probabilities over sign vocabulary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Desktop GUI Implementation (Tkinter)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100% Native Python Desktop GUI: </a:t>
            </a:r>
            <a:r>
              <a:rPr sz="1600" b="0">
                <a:solidFill>
                  <a:srgbClr val="334155"/>
                </a:solidFill>
                <a:latin typeface="Calibri"/>
              </a:rPr>
              <a:t>Built using Python Tkinter &amp; Pillow (cv2main.py) for a clean, natural software feel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Live Video Viewport: </a:t>
            </a:r>
            <a:r>
              <a:rPr sz="1600" b="0">
                <a:solidFill>
                  <a:srgbClr val="334155"/>
                </a:solidFill>
                <a:latin typeface="Calibri"/>
              </a:rPr>
              <a:t>Displays real-time OpenCV camera feed with MediaPipe landmark skeleton overlays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Prediction Hero Display: </a:t>
            </a:r>
            <a:r>
              <a:rPr sz="1600" b="0">
                <a:solidFill>
                  <a:srgbClr val="334155"/>
                </a:solidFill>
                <a:latin typeface="Calibri"/>
              </a:rPr>
              <a:t>Prominently displays top predicted gesture text in a clear, bold hero card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Confidence Progress Meters: </a:t>
            </a:r>
            <a:r>
              <a:rPr sz="1600" b="0">
                <a:solidFill>
                  <a:srgbClr val="334155"/>
                </a:solidFill>
                <a:latin typeface="Calibri"/>
              </a:rPr>
              <a:t>Native ttk.Progressbar widgets detailing real-time top-3 gesture probabilities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Dataset Management Tabs: </a:t>
            </a:r>
            <a:r>
              <a:rPr sz="1600" b="0">
                <a:solidFill>
                  <a:srgbClr val="334155"/>
                </a:solidFill>
                <a:latin typeface="Calibri"/>
              </a:rPr>
              <a:t>Includes dedicated tabs for Recording Videos, Importing Files, and Dataset Video Gallery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Active Hand Gating &amp; Sign-to-Speech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Active Hand Detection Gating: </a:t>
            </a:r>
            <a:r>
              <a:rPr sz="1600" b="0">
                <a:solidFill>
                  <a:srgbClr val="334155"/>
                </a:solidFill>
                <a:latin typeface="Calibri"/>
              </a:rPr>
              <a:t>Prevents false predictions when resting; displays [ NO HAND DETECTED ] when inactive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Confidence Thresholding: </a:t>
            </a:r>
            <a:r>
              <a:rPr sz="1600" b="0">
                <a:solidFill>
                  <a:srgbClr val="334155"/>
                </a:solidFill>
                <a:latin typeface="Calibri"/>
              </a:rPr>
              <a:t>Requires a minimum 45% probability threshold before displaying sign gesture output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Text-to-Speech (TTS) Integration: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Asynchronous Pyttsx3 speech engine speaks recognized gesture words aloud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Audio Toggle Control: </a:t>
            </a:r>
            <a:r>
              <a:rPr sz="1600" b="0">
                <a:solidFill>
                  <a:srgbClr val="334155"/>
                </a:solidFill>
                <a:latin typeface="Calibri"/>
              </a:rPr>
              <a:t>Includes a GUI checkbox enabling/disabling voice output for user preference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Sub-30ms Inference Latency: </a:t>
            </a:r>
            <a:r>
              <a:rPr sz="1600" b="0">
                <a:solidFill>
                  <a:srgbClr val="334155"/>
                </a:solidFill>
                <a:latin typeface="Calibri"/>
              </a:rPr>
              <a:t>Ensures smooth live translation without lag or freezing during continuous signing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Empirical Results &amp;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Overall Test Accuracy: </a:t>
            </a:r>
            <a:r>
              <a:rPr sz="1600" b="0">
                <a:solidFill>
                  <a:srgbClr val="334155"/>
                </a:solidFill>
                <a:latin typeface="Calibri"/>
              </a:rPr>
              <a:t>Achieved 98.67% (0.9867) classification accuracy on 3,690 test evaluation samples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Overall Test Loss: </a:t>
            </a:r>
            <a:r>
              <a:rPr sz="1600" b="0">
                <a:solidFill>
                  <a:srgbClr val="334155"/>
                </a:solidFill>
                <a:latin typeface="Calibri"/>
              </a:rPr>
              <a:t>Achieved low cross-entropy loss of 0.0459 during test set evaluation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Macro Average F1-Score: </a:t>
            </a:r>
            <a:r>
              <a:rPr sz="1600" b="0">
                <a:solidFill>
                  <a:srgbClr val="334155"/>
                </a:solidFill>
                <a:latin typeface="Calibri"/>
              </a:rPr>
              <a:t>Macro F1-Score of 0.99 demonstrating balanced per-class model accuracy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Weighted Average F1-Score: </a:t>
            </a:r>
            <a:r>
              <a:rPr sz="1600" b="0">
                <a:solidFill>
                  <a:srgbClr val="334155"/>
                </a:solidFill>
                <a:latin typeface="Calibri"/>
              </a:rPr>
              <a:t>Weighted F1-Score of 0.99 confirming strong generalizability across all gesture classes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Inference Latency: </a:t>
            </a:r>
            <a:r>
              <a:rPr sz="1600" b="0">
                <a:solidFill>
                  <a:srgbClr val="334155"/>
                </a:solidFill>
                <a:latin typeface="Calibri"/>
              </a:rPr>
              <a:t>Average frame processing time under 30ms, operating smoothly at 15+ FPS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Per-Class Evaluation Methodology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16523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 Gesture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Afternoon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322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238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297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OVERALL AVG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3,690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4155"/>
                </a:solidFill>
                <a:latin typeface="Calibri"/>
              </a:defRPr>
            </a:pPr>
            <a:r>
              <a:t>Table 1: Per-Class Precision, Recall, F1-Score, and Support Sample 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Observations &amp; Result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Perfect Class Differentiation: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Gestures like 'Boy', 'Monday', 'Night', 'People', and 'Person' achieved 1.00 F1-score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Minor Gesture Overlap: </a:t>
            </a:r>
            <a:r>
              <a:rPr sz="1600" b="0">
                <a:solidFill>
                  <a:srgbClr val="334155"/>
                </a:solidFill>
                <a:latin typeface="Calibri"/>
              </a:rPr>
              <a:t>Slight overlap observed between 'Country' (0.96 F1) and 'Time' (0.95 F1) due to similar arm positions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Signer Position Independence: </a:t>
            </a:r>
            <a:r>
              <a:rPr sz="1600" b="0">
                <a:solidFill>
                  <a:srgbClr val="334155"/>
                </a:solidFill>
                <a:latin typeface="Calibri"/>
              </a:rPr>
              <a:t>Keypoint spatial normalization successfully eliminated distance &amp; clothing variations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Resting State Stability: </a:t>
            </a:r>
            <a:r>
              <a:rPr sz="1600" b="0">
                <a:solidFill>
                  <a:srgbClr val="334155"/>
                </a:solidFill>
                <a:latin typeface="Calibri"/>
              </a:rPr>
              <a:t>Hand gating prevented false random predictions when signer arms were at rest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Audio Responsiveness: </a:t>
            </a:r>
            <a:r>
              <a:rPr sz="1600" b="0">
                <a:solidFill>
                  <a:srgbClr val="334155"/>
                </a:solidFill>
                <a:latin typeface="Calibri"/>
              </a:rPr>
              <a:t>Text-to-speech audio feedback triggered smoothly within ~0.4s of gesture completion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Conclusion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Successful System Delivery: </a:t>
            </a:r>
            <a:r>
              <a:rPr sz="1600" b="0">
                <a:solidFill>
                  <a:srgbClr val="334155"/>
                </a:solidFill>
                <a:latin typeface="Calibri"/>
              </a:rPr>
              <a:t>Built a complete real-time sign language gesture recognition &amp; audio translation system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High Model Performance: </a:t>
            </a:r>
            <a:r>
              <a:rPr sz="1600" b="0">
                <a:solidFill>
                  <a:srgbClr val="334155"/>
                </a:solidFill>
                <a:latin typeface="Calibri"/>
              </a:rPr>
              <a:t>Achieved 98.67% overall test accuracy utilizing MediaPipe keypoints &amp; LSTM architecture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Successfully integrated live text display and Pyttsx3 speech audio output for accessibility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Native Desktop Application: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Developed a 100% native Python Tkinter GUI featuring Live View, Recording, &amp; Gallery tabs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Real-World Practicality: </a:t>
            </a:r>
            <a:r>
              <a:rPr sz="1600" b="0">
                <a:solidFill>
                  <a:srgbClr val="334155"/>
                </a:solidFill>
                <a:latin typeface="Calibri"/>
              </a:rPr>
              <a:t>Provides an effective, low-latency communication tool for deaf &amp; hard-of-hearing assistance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Future Scope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Vocabulary Expansion: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Scale vocabulary from 11 signs to full datasets like WLASL (2,000+ signs) or INCLUDE dataset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Sentence-Level Translation: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Extend from word-level gestures to full continuous sentence translation using Transformer models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Mobile &amp; Edge Deployment: </a:t>
            </a:r>
            <a:r>
              <a:rPr sz="1600" b="0">
                <a:solidFill>
                  <a:srgbClr val="334155"/>
                </a:solidFill>
                <a:latin typeface="Calibri"/>
              </a:rPr>
              <a:t>Export model to TensorFlow Lite (TFLite) for deployment on mobile devices &amp; Raspberry Pi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Multi-Language Speech Output: </a:t>
            </a:r>
            <a:r>
              <a:rPr sz="1600" b="0">
                <a:solidFill>
                  <a:srgbClr val="334155"/>
                </a:solidFill>
                <a:latin typeface="Calibri"/>
              </a:rPr>
              <a:t>Add multi-language TTS translation options (e.g. Hindi, Spanish, French audio output)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Dataset Mirror Augmentation: </a:t>
            </a:r>
            <a:r>
              <a:rPr sz="1600" b="0">
                <a:solidFill>
                  <a:srgbClr val="334155"/>
                </a:solidFill>
                <a:latin typeface="Calibri"/>
              </a:rPr>
              <a:t>Incorporate mirror data augmentation for left/right hand signer generalizability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References &amp;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334155"/>
                </a:solidFill>
                <a:latin typeface="Calibri"/>
              </a:defRPr>
            </a:pPr>
            <a:r>
              <a:t>• 1. Lugaresi et al., 'MediaPipe: A Framework for Building Perception Pipelines', arXiv:1906.08172, 2019.</a:t>
            </a:r>
          </a:p>
          <a:p>
            <a:pPr>
              <a:spcAft>
                <a:spcPts val="600"/>
              </a:spcAft>
              <a:defRPr sz="1800" b="0">
                <a:solidFill>
                  <a:srgbClr val="334155"/>
                </a:solidFill>
                <a:latin typeface="Calibri"/>
              </a:defRPr>
            </a:pPr>
            <a:r>
              <a:t>• 2. Hochreiter, S., &amp; Schmidhuber, J., 'Long Short-Term Memory', Neural Computation, 9(8), 1735-1780, 1997.</a:t>
            </a:r>
          </a:p>
          <a:p>
            <a:pPr>
              <a:spcAft>
                <a:spcPts val="600"/>
              </a:spcAft>
              <a:defRPr sz="1800" b="0">
                <a:solidFill>
                  <a:srgbClr val="334155"/>
                </a:solidFill>
                <a:latin typeface="Calibri"/>
              </a:defRPr>
            </a:pPr>
            <a:r>
              <a:t>• 3. Li, D., et al., 'Word-Level Deep Sign Language Recognition', IEEE/CVF Conference on Computer Vision (CVPR), 2020.</a:t>
            </a:r>
          </a:p>
          <a:p>
            <a:pPr>
              <a:spcAft>
                <a:spcPts val="600"/>
              </a:spcAft>
              <a:defRPr sz="1800" b="0">
                <a:solidFill>
                  <a:srgbClr val="334155"/>
                </a:solidFill>
                <a:latin typeface="Calibri"/>
              </a:defRPr>
            </a:pPr>
            <a:r>
              <a:t>• 4. Metehan Ozdeniz, 'Sign Language Recognition Dataset &amp; Benchmark', Kaggle Dataset Repository, 2024.</a:t>
            </a:r>
          </a:p>
          <a:p>
            <a:pPr>
              <a:spcAft>
                <a:spcPts val="600"/>
              </a:spcAft>
              <a:defRPr sz="1800" b="0">
                <a:solidFill>
                  <a:srgbClr val="334155"/>
                </a:solidFill>
                <a:latin typeface="Calibri"/>
              </a:defRPr>
            </a:pPr>
            <a:r>
              <a:t>• 5. Google Keras 3.3 &amp; TensorFlow 2.17 Official Documentation and API Reference, 2026.</a:t>
            </a:r>
          </a:p>
          <a:p>
            <a:pPr>
              <a:spcAft>
                <a:spcPts val="600"/>
              </a:spcAft>
              <a:defRPr sz="1800" b="0">
                <a:solidFill>
                  <a:srgbClr val="334155"/>
                </a:solidFill>
                <a:latin typeface="Calibri"/>
              </a:defRPr>
            </a:pPr>
            <a:r>
              <a:t>• 6. OpenCV Open Source Computer Vision Library Documentation,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2800" b="1">
                <a:solidFill>
                  <a:srgbClr val="0D6EFD"/>
                </a:solidFill>
                <a:latin typeface="Calibri"/>
              </a:defRPr>
            </a:pPr>
            <a:r>
              <a:t>Questions &amp; Discussion</a:t>
            </a:r>
          </a:p>
          <a:p>
            <a:br/>
            <a:pPr algn="ctr">
              <a:defRPr sz="2000" b="0">
                <a:solidFill>
                  <a:srgbClr val="334155"/>
                </a:solidFill>
                <a:latin typeface="Calibri"/>
              </a:defRPr>
            </a:pPr>
            <a:r>
              <a:t>Presented By: Piyush Tiwari</a:t>
            </a:r>
            <a:br/>
            <a:r>
              <a:t>Roll No: 2100270100000 | 7th Sem, CSE-1</a:t>
            </a:r>
            <a:br/>
            <a:r>
              <a:t>IMS Engineering College, Ghaziabad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Noto Sans CJK SC Regular"/>
        <a:cs typeface="Noto Sans CJK SC Regular"/>
      </a:majorFont>
      <a:minorFont>
        <a:latin typeface="Calibri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407</Words>
  <Application>WPS Presentation</Application>
  <PresentationFormat>On-screen Show (4:3)</PresentationFormat>
  <Paragraphs>64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Objectives</vt:lpstr>
      <vt:lpstr>Methodology</vt:lpstr>
      <vt:lpstr>Results &amp; Analysis</vt:lpstr>
      <vt:lpstr>Conclusion &amp; Future Work</vt:lpstr>
      <vt:lpstr>Thank You</vt:lpstr>
      <vt:lpstr>Recommended Font Sizes for Internship PPTs Presentation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 of Routing Protocol  Under Security Attacks</dc:title>
  <dc:creator>SAINATH</dc:creator>
  <cp:lastModifiedBy>Faculty</cp:lastModifiedBy>
  <cp:revision>368</cp:revision>
  <dcterms:created xsi:type="dcterms:W3CDTF">2012-05-24T06:22:00Z</dcterms:created>
  <dcterms:modified xsi:type="dcterms:W3CDTF">2026-07-14T09:29:41Z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FC636E2E2A264E20A1776DCA2C0207AF_13</vt:lpwstr>
  </property>
  <property fmtid="{D5CDD505-2E9C-101B-9397-08002B2CF9AE}" pid="3" name="KSOProductBuildVer">
    <vt:lpwstr>1033-12.2.0.22222</vt:lpwstr>
  </property>
</Properties>
</file>