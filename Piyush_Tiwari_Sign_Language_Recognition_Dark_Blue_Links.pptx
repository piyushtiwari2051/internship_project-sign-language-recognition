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73" r:id="rId2"/>
    <p:sldId id="274" r:id="rId8"/>
    <p:sldId id="275" r:id="rId9"/>
    <p:sldId id="276" r:id="rId7"/>
    <p:sldId id="277" r:id="rId6"/>
    <p:sldId id="278" r:id="rId5"/>
    <p:sldId id="279" r:id="rId4"/>
    <p:sldId id="280" r:id="rId3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</p:sldIdLst>
  <p:sldSz cx="9144000" cy="6858000" type="screen4x3"/>
  <p:notesSz cx="6858000" cy="9144000"/>
  <p:defaultTextStyle>
    <a:defPPr>
      <a:defRPr lang="en-GB"/>
    </a:defPPr>
    <a:lvl1pPr marL="0" lvl="0" indent="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742950" lvl="1" indent="-28575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1143000" lvl="2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1600200" lvl="3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2057400" lvl="4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5pPr>
    <a:lvl6pPr marL="2286000" lvl="5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6pPr>
    <a:lvl7pPr marL="2743200" lvl="6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7pPr>
    <a:lvl8pPr marL="3200400" lvl="7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8pPr>
    <a:lvl9pPr marL="3657600" lvl="8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xmlns="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>
        <p:scale>
          <a:sx n="100" d="100"/>
          <a:sy n="100" d="100"/>
        </p:scale>
        <p:origin x="-516" y="49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84613" y="0"/>
            <a:ext cx="29702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t" anchorCtr="0" compatLnSpc="1"/>
          <a:lstStyle/>
          <a:p>
            <a:pPr lvl="0" algn="r" defTabSz="449580" eaLnBrk="1" hangingPunct="1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zh-CN" sz="1200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  <p:sp>
        <p:nvSpPr>
          <p:cNvPr id="5125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  <a:noFill/>
          <a:ln w="1260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t" anchorCtr="0" compatLnSpc="1"/>
          <a:lstStyle/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55" name="Text Box 6"/>
          <p:cNvSpPr txBox="1">
            <a:spLocks noChangeArrowheads="1"/>
          </p:cNvSpPr>
          <p:nvPr/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702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b" anchorCtr="0" compatLnSpc="1"/>
          <a:lstStyle/>
          <a:p>
            <a:pPr lvl="0" algn="r" defTabSz="449580" eaLnBrk="1" hangingPunct="1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pPr lvl="0" algn="r" defTabSz="449580" eaLnBrk="1" hangingPunct="1"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‹#›</a:t>
            </a:fld>
            <a:endParaRPr lang="en-US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pPr lvl="0" algn="r" defTabSz="449580" eaLnBrk="1" hangingPunct="1"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6147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</p:spPr>
      </p:sp>
      <p:sp>
        <p:nvSpPr>
          <p:cNvPr id="6148" name="Text Box 2"/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 eaLnBrk="1" hangingPunct="1">
              <a:buFont typeface="Times New Roman" panose="02020603050405020304" pitchFamily="18" charset="0"/>
            </a:pPr>
            <a:endParaRPr lang="en-US" altLang="en-US" dirty="0"/>
          </a:p>
        </p:txBody>
      </p:sp>
      <p:sp>
        <p:nvSpPr>
          <p:cNvPr id="6149" name="Text Box 3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pPr lvl="0" algn="r" defTabSz="449580" eaLnBrk="1" hangingPunct="1"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7013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038600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0000" tIns="46800" rIns="90000" bIns="4680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5813" cy="5849937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49937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8013" cy="11414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lvl="0"/>
            <a:r>
              <a:rPr lang="en-GB" altLang="en-US" dirty="0"/>
              <a:t>Click to edit the title text format</a:t>
            </a:r>
          </a:p>
        </p:txBody>
      </p:sp>
      <p:sp>
        <p:nvSpPr>
          <p:cNvPr id="1027" name="Rectangle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lvl="0"/>
            <a:r>
              <a:rPr lang="en-GB" altLang="en-US" dirty="0"/>
              <a:t>Click to edit the outline text format</a:t>
            </a:r>
          </a:p>
          <a:p>
            <a:pPr lvl="1"/>
            <a:r>
              <a:rPr lang="en-GB" altLang="en-US" dirty="0"/>
              <a:t>Second Outline Level</a:t>
            </a:r>
          </a:p>
          <a:p>
            <a:pPr lvl="2"/>
            <a:r>
              <a:rPr lang="en-GB" altLang="en-US" dirty="0"/>
              <a:t>Third Outline Level</a:t>
            </a:r>
          </a:p>
          <a:p>
            <a:pPr lvl="3"/>
            <a:r>
              <a:rPr lang="en-GB" altLang="en-US" dirty="0"/>
              <a:t>Fourth Outline Level</a:t>
            </a:r>
          </a:p>
          <a:p>
            <a:pPr lvl="4"/>
            <a:r>
              <a:rPr lang="en-GB" altLang="en-US" dirty="0"/>
              <a:t>Fifth Outline Level</a:t>
            </a:r>
          </a:p>
          <a:p>
            <a:pPr lvl="4"/>
            <a:r>
              <a:rPr lang="en-GB" altLang="en-US" dirty="0"/>
              <a:t>Sixth Outline Level</a:t>
            </a:r>
          </a:p>
          <a:p>
            <a:pPr lvl="4"/>
            <a:r>
              <a:rPr lang="en-GB" altLang="en-US" dirty="0"/>
              <a:t>Seventh Outline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356350"/>
            <a:ext cx="2132013" cy="363538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ctr" anchorCtr="0" compatLnSpc="1"/>
          <a:lstStyle>
            <a:lvl1pPr defTabSz="449580" eaLnBrk="1" hangingPunct="1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1029" name="Text Box 4"/>
          <p:cNvSpPr txBox="1">
            <a:spLocks noChangeArrowheads="1"/>
          </p:cNvSpPr>
          <p:nvPr/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356350"/>
            <a:ext cx="2132013" cy="363538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ctr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2pPr>
      <a:lvl3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3pPr>
      <a:lvl4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4pPr>
      <a:lvl5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5pPr>
      <a:lvl6pPr marL="25146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6pPr>
      <a:lvl7pPr marL="29718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7pPr>
      <a:lvl8pPr marL="34290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8pPr>
      <a:lvl9pPr marL="38862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9pPr>
    </p:titleStyle>
    <p:bodyStyle>
      <a:lvl1pPr marL="342900" indent="-342900" algn="l" defTabSz="449580" rtl="0" eaLnBrk="0" fontAlgn="base" hangingPunct="0">
        <a:spcBef>
          <a:spcPts val="800"/>
        </a:spcBef>
        <a:spcAft>
          <a:spcPct val="0"/>
        </a:spcAft>
        <a:buSzPct val="100000"/>
        <a:buFont typeface="Times New Roman" panose="02020603050405020304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700"/>
        </a:spcBef>
        <a:spcAft>
          <a:spcPct val="0"/>
        </a:spcAft>
        <a:buSzPct val="100000"/>
        <a:buFont typeface="Times New Roman" panose="02020603050405020304" pitchFamily="18" charset="0"/>
        <a:buChar char="–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600"/>
        </a:spcBef>
        <a:spcAft>
          <a:spcPct val="0"/>
        </a:spcAft>
        <a:buSzPct val="100000"/>
        <a:buFont typeface="Times New Roman" panose="02020603050405020304" pitchFamily="18" charset="0"/>
        <a:buChar char="•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buChar char="–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buChar char="»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1906.08172" TargetMode="External"/><Relationship Id="rId3" Type="http://schemas.openxmlformats.org/officeDocument/2006/relationships/hyperlink" Target="https://doi.org/10.1162/neco.1997.9.8.1735" TargetMode="External"/><Relationship Id="rId4" Type="http://schemas.openxmlformats.org/officeDocument/2006/relationships/hyperlink" Target="https://openaccess.thecvf.com/content_CVPR_2020/html/Li_Word-Level_Deep_Sign_Language_Recognition_CVPR_2020_paper.html" TargetMode="External"/><Relationship Id="rId5" Type="http://schemas.openxmlformats.org/officeDocument/2006/relationships/hyperlink" Target="https://ai.google.dev/edge/mediapipe/solutions/vision/hand_landmarker" TargetMode="External"/><Relationship Id="rId6" Type="http://schemas.openxmlformats.org/officeDocument/2006/relationships/hyperlink" Target="https://keras.io/api/layers/recurrent_layers/lstm/" TargetMode="External"/><Relationship Id="rId7" Type="http://schemas.openxmlformats.org/officeDocument/2006/relationships/hyperlink" Target="https://docs.opencv.org/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1"/>
          <p:cNvSpPr txBox="1"/>
          <p:nvPr/>
        </p:nvSpPr>
        <p:spPr>
          <a:xfrm>
            <a:off x="228600" y="304800"/>
            <a:ext cx="8610600" cy="1066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sz="3200" b="1" dirty="0">
                <a:solidFill>
                  <a:srgbClr val="000000"/>
                </a:solidFill>
                <a:latin typeface="Calibri" panose="020F0502020204030204" pitchFamily="34" charset="0"/>
              </a:rPr>
              <a:t>   </a:t>
            </a:r>
            <a:r>
              <a:rPr lang="en-I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Assessment </a:t>
            </a:r>
          </a:p>
          <a:p>
            <a:pPr algn="ct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(Summer Internship</a:t>
            </a:r>
            <a:r>
              <a:rPr lang="en-IN" altLang="en-US" sz="3200" b="1" dirty="0">
                <a:solidFill>
                  <a:srgbClr val="000000"/>
                </a:solidFill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2051" name="Text Box 2"/>
          <p:cNvSpPr txBox="1"/>
          <p:nvPr/>
        </p:nvSpPr>
        <p:spPr>
          <a:xfrm>
            <a:off x="3505200" y="3429000"/>
            <a:ext cx="5486400" cy="1371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defTabSz="449580">
              <a:lnSpc>
                <a:spcPct val="90000"/>
              </a:lnSpc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Submitted By                    Supervised By</a:t>
            </a:r>
          </a:p>
          <a:p>
            <a:pPr defTabSz="449580">
              <a:lnSpc>
                <a:spcPct val="90000"/>
              </a:lnSpc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Piyush Tiwari        	Name of Supervisor</a:t>
            </a:r>
          </a:p>
          <a:p>
            <a:pPr defTabSz="449580">
              <a:lnSpc>
                <a:spcPct val="90000"/>
              </a:lnSpc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2100270100000</a:t>
            </a:r>
            <a:r>
              <a:rPr lang="en-IN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  <a:endParaRPr lang="en-IN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49580">
              <a:lnSpc>
                <a:spcPct val="90000"/>
              </a:lnSpc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7</a:t>
            </a:r>
            <a:r>
              <a:rPr lang="en-IN" altLang="en-US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Sem, CSE-1                    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Department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CSE</a:t>
            </a:r>
            <a:endParaRPr lang="en-IN" altLang="en-US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2" name="Text Box 3"/>
          <p:cNvSpPr txBox="1"/>
          <p:nvPr/>
        </p:nvSpPr>
        <p:spPr>
          <a:xfrm>
            <a:off x="228600" y="3429000"/>
            <a:ext cx="3429000" cy="1295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algn="ctr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Submitted To</a:t>
            </a:r>
          </a:p>
          <a:p>
            <a:pPr algn="just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      Mr. Basudeo Singh Roohani</a:t>
            </a:r>
          </a:p>
          <a:p>
            <a:pPr algn="just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Ms. Swati Singh</a:t>
            </a:r>
            <a:endParaRPr lang="en-I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  (Internship Coordinators)</a:t>
            </a:r>
          </a:p>
          <a:p>
            <a:pPr algn="ctr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en-US" sz="2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en-US" sz="2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3" name="Text Box 4"/>
          <p:cNvSpPr txBox="1"/>
          <p:nvPr/>
        </p:nvSpPr>
        <p:spPr>
          <a:xfrm>
            <a:off x="609600" y="5334000"/>
            <a:ext cx="7772400" cy="1295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algn="ctr" defTabSz="449580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Department of Computer Science &amp; Engineering</a:t>
            </a:r>
          </a:p>
          <a:p>
            <a:pPr algn="ctr" defTabSz="449580">
              <a:lnSpc>
                <a:spcPct val="90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IMS Engineering College, Ghaziabad, India</a:t>
            </a:r>
          </a:p>
          <a:p>
            <a:pPr algn="ctr" defTabSz="449580">
              <a:lnSpc>
                <a:spcPct val="90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2026-27)</a:t>
            </a:r>
            <a:endParaRPr lang="en-US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4" name="Text Box 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IN" altLang="en-US" sz="1200" dirty="0">
                <a:solidFill>
                  <a:srgbClr val="898989"/>
                </a:solidFill>
                <a:latin typeface="Arial" panose="020B0604020202020204" pitchFamily="34" charset="0"/>
              </a:rPr>
              <a:pPr algn="r" defTabSz="44958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</a:t>
            </a:fld>
            <a:endParaRPr lang="en-IN" altLang="en-US" sz="1200" dirty="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2055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75" y="152400"/>
            <a:ext cx="1795463" cy="18462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6" name="TextBox 1"/>
          <p:cNvSpPr txBox="1"/>
          <p:nvPr/>
        </p:nvSpPr>
        <p:spPr>
          <a:xfrm>
            <a:off x="3238500" y="1143000"/>
            <a:ext cx="2667000" cy="738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/>
            <a:r>
              <a:rPr lang="en-IN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algn="ctr" eaLnBrk="0" hangingPunct="0"/>
            <a:r>
              <a:rPr lang="en-I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endParaRPr lang="en-I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7" name="TextBox 8"/>
          <p:cNvSpPr txBox="1"/>
          <p:nvPr/>
        </p:nvSpPr>
        <p:spPr>
          <a:xfrm>
            <a:off x="2667000" y="2057400"/>
            <a:ext cx="373380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/>
            <a:r>
              <a:rPr lang="en-US" altLang="x-none" b="1" dirty="0">
                <a:solidFill>
                  <a:schemeClr val="tx1"/>
                </a:solidFill>
                <a:latin typeface="Arial" panose="020B0604020202020204" pitchFamily="34" charset="0"/>
              </a:rPr>
              <a:t>On</a:t>
            </a:r>
          </a:p>
          <a:p>
            <a:pPr algn="ctr">
              <a:defRPr sz="2200" b="1">
                <a:solidFill>
                  <a:srgbClr val="FF0000"/>
                </a:solidFill>
                <a:latin typeface="Calibri"/>
              </a:defRPr>
            </a:pPr>
            <a:r>
              <a:t>Real-Time Sign Language Recognition &amp; Translation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Outline &amp; 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1. Introduction &amp; Objectives: </a:t>
            </a:r>
            <a:r>
              <a:rPr sz="1800" b="0">
                <a:solidFill>
                  <a:srgbClr val="334155"/>
                </a:solidFill>
                <a:latin typeface="Calibri"/>
              </a:rPr>
              <a:t>Domain of work, assistive AI technology &amp; project goals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2. Problem Statement: </a:t>
            </a:r>
            <a:r>
              <a:rPr sz="1800" b="0">
                <a:solidFill>
                  <a:srgbClr val="334155"/>
                </a:solidFill>
                <a:latin typeface="Calibri"/>
              </a:rPr>
              <a:t>Challenges in sign language translation &amp; pixel-level limitations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3. Requirement Analysis: </a:t>
            </a:r>
            <a:r>
              <a:rPr sz="1800" b="0">
                <a:solidFill>
                  <a:srgbClr val="334155"/>
                </a:solidFill>
                <a:latin typeface="Calibri"/>
              </a:rPr>
              <a:t>Hardware setup &amp; software stack (MediaPipe, TensorFlow, OpenCV)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4. System Architecture: </a:t>
            </a:r>
            <a:r>
              <a:rPr sz="1800" b="0">
                <a:solidFill>
                  <a:srgbClr val="334155"/>
                </a:solidFill>
                <a:latin typeface="Calibri"/>
              </a:rPr>
              <a:t>End-to-end data pipeline flow &amp; system module design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5. Keypoint Extraction: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Spatial landmark extraction (Hands &amp; Pose)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18872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6. Dataset &amp; Feature Details: </a:t>
            </a:r>
            <a:r>
              <a:rPr sz="1800" b="0">
                <a:solidFill>
                  <a:srgbClr val="334155"/>
                </a:solidFill>
                <a:latin typeface="Calibri"/>
              </a:rPr>
              <a:t>Sliding window aggregation (18 statistical features)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7. Sequence LSTM Classifier: </a:t>
            </a:r>
            <a:r>
              <a:rPr sz="1800" b="0">
                <a:solidFill>
                  <a:srgbClr val="334155"/>
                </a:solidFill>
                <a:latin typeface="Calibri"/>
              </a:rPr>
              <a:t>Multi-layer LSTM model architecture &amp; loss optimization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8. Desktop GUI &amp; Speech Translation: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Native Python Tkinter app &amp; Pyttsx3 speech synthesis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9. Results &amp; Performance Analysis: </a:t>
            </a:r>
            <a:r>
              <a:rPr sz="1800" b="0">
                <a:solidFill>
                  <a:srgbClr val="334155"/>
                </a:solidFill>
                <a:latin typeface="Calibri"/>
              </a:rPr>
              <a:t>Accuracy (98.67%), F1-Score (0.99), &amp; per-class table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10. Conclusion &amp; References: </a:t>
            </a:r>
            <a:r>
              <a:rPr sz="1800" b="0">
                <a:solidFill>
                  <a:srgbClr val="334155"/>
                </a:solidFill>
                <a:latin typeface="Calibri"/>
              </a:rPr>
              <a:t>Summary of achievements, future scope &amp; academic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Introduction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Domain of Work: </a:t>
            </a:r>
            <a:r>
              <a:rPr sz="1800" b="0">
                <a:solidFill>
                  <a:srgbClr val="334155"/>
                </a:solidFill>
                <a:latin typeface="Calibri"/>
              </a:rPr>
              <a:t>Computer Vision, Deep Learning &amp; Accessibility Assistive Technology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Social Relevance: </a:t>
            </a:r>
            <a:r>
              <a:rPr sz="1800" b="0">
                <a:solidFill>
                  <a:srgbClr val="334155"/>
                </a:solidFill>
                <a:latin typeface="Calibri"/>
              </a:rPr>
              <a:t>Over 70 million deaf individuals globally rely on sign language for daily communication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Primary Objective: </a:t>
            </a:r>
            <a:r>
              <a:rPr sz="1800" b="0">
                <a:solidFill>
                  <a:srgbClr val="334155"/>
                </a:solidFill>
                <a:latin typeface="Calibri"/>
              </a:rPr>
              <a:t>Develop a real-time, non-invasive translation system converting webcam gestures into text &amp; voice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Key Approach: </a:t>
            </a:r>
            <a:r>
              <a:rPr sz="1800" b="0">
                <a:solidFill>
                  <a:srgbClr val="334155"/>
                </a:solidFill>
                <a:latin typeface="Calibri"/>
              </a:rPr>
              <a:t>Extract compact 3D spatial keypoints per frame and classify keypoint sequences using an LSTM model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Sign-to-Speech Integration: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Integrate Text-to-Speech (TTS) audio output for seamless real-time communication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Raw Video Heavy &amp; Noisy: </a:t>
            </a:r>
            <a:r>
              <a:rPr sz="1800" b="0">
                <a:solidFill>
                  <a:srgbClr val="334155"/>
                </a:solidFill>
                <a:latin typeface="Calibri"/>
              </a:rPr>
              <a:t>Raw video frames contain high spatial redundancy, background noise, and heavy memory cost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Limitations of Existing CNN Methods: </a:t>
            </a:r>
            <a:r>
              <a:rPr sz="1800" b="0">
                <a:solidFill>
                  <a:srgbClr val="334155"/>
                </a:solidFill>
                <a:latin typeface="Calibri"/>
              </a:rPr>
              <a:t>Direct frame-by-frame CNN classifiers fail on temporal gesture dynamics and suffer from high latency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Signer Position Dependency: </a:t>
            </a:r>
            <a:r>
              <a:rPr sz="1800" b="0">
                <a:solidFill>
                  <a:srgbClr val="334155"/>
                </a:solidFill>
                <a:latin typeface="Calibri"/>
              </a:rPr>
              <a:t>Raw pixel models degrade when signer distance, clothing, or background lighting changes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Our Proposed Solution: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Replace raw pixels with 3D pose/hand keypoint sequences, ensuring position scale invariance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Real-Time Constraint: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 fast sub-50ms inference latency suitable for continuous live webcam translation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Requirement Analysis (S/W &amp; H/W)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Hardware Requirements: </a:t>
            </a:r>
            <a:r>
              <a:rPr sz="1800" b="0">
                <a:solidFill>
                  <a:srgbClr val="334155"/>
                </a:solidFill>
                <a:latin typeface="Calibri"/>
              </a:rPr>
              <a:t>Standard HD Webcam (640x480 resolution @ 15+ FPS), Intel Core i5/i7, 8GB RAM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Programming Language: </a:t>
            </a:r>
            <a:r>
              <a:rPr sz="1800" b="0">
                <a:solidFill>
                  <a:srgbClr val="334155"/>
                </a:solidFill>
                <a:latin typeface="Calibri"/>
              </a:rPr>
              <a:t>Python 3.11 (Core logic, OpenCV capture, &amp; deep learning execution)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Computer Vision Library: </a:t>
            </a:r>
            <a:r>
              <a:rPr sz="1800" b="0">
                <a:solidFill>
                  <a:srgbClr val="334155"/>
                </a:solidFill>
                <a:latin typeface="Calibri"/>
              </a:rPr>
              <a:t>Google MediaPipe 0.10.21 (Fingertip &amp; upper-body pose landmark extraction)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Deep Learning Framework: </a:t>
            </a:r>
            <a:r>
              <a:rPr sz="1800" b="0">
                <a:solidFill>
                  <a:srgbClr val="334155"/>
                </a:solidFill>
                <a:latin typeface="Calibri"/>
              </a:rPr>
              <a:t>TensorFlow 2.17 &amp; Keras 3.3 (Multi-layer LSTM model training &amp; inference)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User Interface &amp; Audio Engine: </a:t>
            </a:r>
            <a:r>
              <a:rPr sz="1800" b="0">
                <a:solidFill>
                  <a:srgbClr val="334155"/>
                </a:solidFill>
                <a:latin typeface="Calibri"/>
              </a:rPr>
              <a:t>Python Native Tkinter GUI framework &amp; Pyttsx3 Text-to-Speech audio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System Methodology &amp; Data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6EFD"/>
                </a:solidFill>
                <a:latin typeface="Calibri"/>
              </a:defRPr>
            </a:pPr>
            <a:r>
              <a:t>STAGE 1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Webcam Capture</a:t>
            </a:r>
            <a:br/>
            <a:r>
              <a:t>(640x480 @ 15 FPS)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88920" y="1920240"/>
            <a:ext cx="457200" cy="274320"/>
          </a:xfrm>
          <a:prstGeom prst="rightArrow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91840" y="1280160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B5CF6"/>
                </a:solidFill>
                <a:latin typeface="Calibri"/>
              </a:defRPr>
            </a:pPr>
            <a:r>
              <a:t>STAGE 2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MediaPipe Extraction</a:t>
            </a:r>
            <a:br/>
            <a:r>
              <a:t>(Hands &amp; Pose Joints)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532120" y="1920240"/>
            <a:ext cx="457200" cy="27432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35040" y="1280160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6EFD"/>
                </a:solidFill>
                <a:latin typeface="Calibri"/>
              </a:defRPr>
            </a:pPr>
            <a:r>
              <a:t>STAGE 3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Sliding Window</a:t>
            </a:r>
            <a:br/>
            <a:r>
              <a:t>(0.5s Feature Aggregation)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79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STAGE 4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Normalization</a:t>
            </a:r>
            <a:br/>
            <a:r>
              <a:t>(StandardScaler Normalizer)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88920" y="4023359"/>
            <a:ext cx="457200" cy="274320"/>
          </a:xfrm>
          <a:prstGeom prst="rightArrow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91840" y="3383279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B5CF6"/>
                </a:solidFill>
                <a:latin typeface="Calibri"/>
              </a:defRPr>
            </a:pPr>
            <a:r>
              <a:t>STAGE 5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LSTM Sequence Net</a:t>
            </a:r>
            <a:br/>
            <a:r>
              <a:t>(5-Window Input Tensor)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532120" y="4023359"/>
            <a:ext cx="457200" cy="27432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3383279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STAGE 6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GUI &amp; Audio Speech</a:t>
            </a:r>
            <a:br/>
            <a:r>
              <a:t>(Hero Box + Pyttsx3 TTS)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949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4155"/>
                </a:solidFill>
                <a:latin typeface="Calibri"/>
              </a:defRPr>
            </a:pPr>
            <a:r>
              <a:t>Figure 1: End-to-End Real-Time Gesture Recognition Data Flow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Keypoint Extraction &amp;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Hand Landmarks Extraction: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Extracts 5 fingertip joints (thumb, index, middle, ring, pinky) per hand (X, Y, Z coordinates)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Upper-Body Pose Landmarks: </a:t>
            </a:r>
            <a:r>
              <a:rPr sz="1800" b="0">
                <a:solidFill>
                  <a:srgbClr val="334155"/>
                </a:solidFill>
                <a:latin typeface="Calibri"/>
              </a:rPr>
              <a:t>Extracts 6 upper-body joints (shoulders, elbows, wrists) for posture tracking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Statistical Feature Aggregation: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Computes Mean and Standard Deviation per 0.5s sliding window (~7-8 frames)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Scale &amp; Position Invariance: </a:t>
            </a:r>
            <a:r>
              <a:rPr sz="1800" b="0">
                <a:solidFill>
                  <a:srgbClr val="334155"/>
                </a:solidFill>
                <a:latin typeface="Calibri"/>
              </a:rPr>
              <a:t>StandardScaler normalization ensures robustness regardless of signer camera distance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Compact Vector Dimension: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Reduces full video frame data into a compact 18-element feature vector per window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Dataset &amp; Feature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Dataset Size &amp; Support: </a:t>
            </a:r>
            <a:r>
              <a:rPr sz="1800" b="0">
                <a:solidFill>
                  <a:srgbClr val="334155"/>
                </a:solidFill>
                <a:latin typeface="Calibri"/>
              </a:rPr>
              <a:t>Curated dataset containing 3,690 gesture sequence samples across 11 sign classes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Target Sign Vocabulary: </a:t>
            </a:r>
            <a:r>
              <a:rPr sz="1800" b="0">
                <a:solidFill>
                  <a:srgbClr val="334155"/>
                </a:solidFill>
                <a:latin typeface="Calibri"/>
              </a:rPr>
              <a:t>Afternoon, Age, Boy, Country, Day, Monday, Name, Night, People, Person, Time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Temporal Window Length: </a:t>
            </a:r>
            <a:r>
              <a:rPr sz="1800" b="0">
                <a:solidFill>
                  <a:srgbClr val="334155"/>
                </a:solidFill>
                <a:latin typeface="Calibri"/>
              </a:rPr>
              <a:t>Fixed 0.5-second sliding window duration (target sampling rate: 15 FPS)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Sequence Stacking: </a:t>
            </a:r>
            <a:r>
              <a:rPr sz="1800" b="0">
                <a:solidFill>
                  <a:srgbClr val="334155"/>
                </a:solidFill>
                <a:latin typeface="Calibri"/>
              </a:rPr>
              <a:t>5 consecutive feature windows stacked into an input matrix of shape (1, 5, 18)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Database Storage: </a:t>
            </a:r>
            <a:r>
              <a:rPr sz="1800" b="0">
                <a:solidFill>
                  <a:srgbClr val="334155"/>
                </a:solidFill>
                <a:latin typeface="Calibri"/>
              </a:rPr>
              <a:t>Stored using SQLite schema tracking video metadata, frame landmarks, and feature matrices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Sequence LSTM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Input Layer Shape: </a:t>
            </a:r>
            <a:r>
              <a:rPr sz="1800" b="0">
                <a:solidFill>
                  <a:srgbClr val="334155"/>
                </a:solidFill>
                <a:latin typeface="Calibri"/>
              </a:rPr>
              <a:t>(5, 18) representing 5 time-step windows of 18 normalized keypoint features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LSTM Layer 1: </a:t>
            </a:r>
            <a:r>
              <a:rPr sz="1800" b="0">
                <a:solidFill>
                  <a:srgbClr val="334155"/>
                </a:solidFill>
                <a:latin typeface="Calibri"/>
              </a:rPr>
              <a:t>128 Recurrent LSTM Units with Dropout (0.3) &amp; Batch Normalization for regularization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LSTM Layer 2: </a:t>
            </a:r>
            <a:r>
              <a:rPr sz="1800" b="0">
                <a:solidFill>
                  <a:srgbClr val="334155"/>
                </a:solidFill>
                <a:latin typeface="Calibri"/>
              </a:rPr>
              <a:t>64 Recurrent LSTM Units capturing higher-level temporal gesture dynamics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Dense Classification Layer: </a:t>
            </a:r>
            <a:r>
              <a:rPr sz="1800" b="0">
                <a:solidFill>
                  <a:srgbClr val="334155"/>
                </a:solidFill>
                <a:latin typeface="Calibri"/>
              </a:rPr>
              <a:t>64 Dense Neurons with ReLU activation &amp; Dropout (0.3)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Output Softmax Layer: </a:t>
            </a:r>
            <a:r>
              <a:rPr sz="1800" b="0">
                <a:solidFill>
                  <a:srgbClr val="334155"/>
                </a:solidFill>
                <a:latin typeface="Calibri"/>
              </a:rPr>
              <a:t>11 Output Neurons producing Softmax confidence probabilities over sign vocabulary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Desktop GUI Implementation (Tkinter)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100% Native Python Desktop GUI: </a:t>
            </a:r>
            <a:r>
              <a:rPr sz="1800" b="0">
                <a:solidFill>
                  <a:srgbClr val="334155"/>
                </a:solidFill>
                <a:latin typeface="Calibri"/>
              </a:rPr>
              <a:t>Built using Python Tkinter &amp; Pillow (cv2main.py) for a clean, natural software feel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Live Video Viewport: </a:t>
            </a:r>
            <a:r>
              <a:rPr sz="1800" b="0">
                <a:solidFill>
                  <a:srgbClr val="334155"/>
                </a:solidFill>
                <a:latin typeface="Calibri"/>
              </a:rPr>
              <a:t>Displays real-time OpenCV camera feed with MediaPipe landmark skeleton overlays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Prediction Hero Display: </a:t>
            </a:r>
            <a:r>
              <a:rPr sz="1800" b="0">
                <a:solidFill>
                  <a:srgbClr val="334155"/>
                </a:solidFill>
                <a:latin typeface="Calibri"/>
              </a:rPr>
              <a:t>Prominently displays top predicted gesture text in a clear, bold hero card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Confidence Progress Meters: </a:t>
            </a:r>
            <a:r>
              <a:rPr sz="1800" b="0">
                <a:solidFill>
                  <a:srgbClr val="334155"/>
                </a:solidFill>
                <a:latin typeface="Calibri"/>
              </a:rPr>
              <a:t>Native ttk.Progressbar widgets detailing real-time top-3 gesture probabilities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Dataset Management Tabs: </a:t>
            </a:r>
            <a:r>
              <a:rPr sz="1800" b="0">
                <a:solidFill>
                  <a:srgbClr val="334155"/>
                </a:solidFill>
                <a:latin typeface="Calibri"/>
              </a:rPr>
              <a:t>Includes dedicated tabs for Recording Videos, Importing Files, and Dataset Video Gallery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Active Hand Gating &amp; Sign-to-Speech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Active Hand Detection Gating: </a:t>
            </a:r>
            <a:r>
              <a:rPr sz="1800" b="0">
                <a:solidFill>
                  <a:srgbClr val="334155"/>
                </a:solidFill>
                <a:latin typeface="Calibri"/>
              </a:rPr>
              <a:t>Prevents false predictions when resting; displays [ NO HAND DETECTED ] when inactive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Confidence Thresholding: </a:t>
            </a:r>
            <a:r>
              <a:rPr sz="1800" b="0">
                <a:solidFill>
                  <a:srgbClr val="334155"/>
                </a:solidFill>
                <a:latin typeface="Calibri"/>
              </a:rPr>
              <a:t>Requires a minimum 45% probability threshold before displaying sign gesture output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Text-to-Speech (TTS) Integration: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Asynchronous Pyttsx3 speech engine speaks recognized gesture words aloud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Audio Toggle Control: </a:t>
            </a:r>
            <a:r>
              <a:rPr sz="1800" b="0">
                <a:solidFill>
                  <a:srgbClr val="334155"/>
                </a:solidFill>
                <a:latin typeface="Calibri"/>
              </a:rPr>
              <a:t>Includes a GUI checkbox enabling/disabling voice output for user preference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Sub-30ms Inference Latency: </a:t>
            </a:r>
            <a:r>
              <a:rPr sz="1800" b="0">
                <a:solidFill>
                  <a:srgbClr val="334155"/>
                </a:solidFill>
                <a:latin typeface="Calibri"/>
              </a:rPr>
              <a:t>Ensures smooth live translation without lag or freezing during continuous signing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Empirical Results &amp; 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Overall Test Accuracy: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Achieved 98.67% (0.9867) classification accuracy on 3,690 test evaluation samples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Overall Test Loss: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Achieved low cross-entropy loss of 0.0459 during test set evaluation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Macro Average F1-Score: </a:t>
            </a:r>
            <a:r>
              <a:rPr sz="1800" b="0">
                <a:solidFill>
                  <a:srgbClr val="334155"/>
                </a:solidFill>
                <a:latin typeface="Calibri"/>
              </a:rPr>
              <a:t>Macro F1-Score of 0.99 demonstrating balanced per-class model accuracy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Weighted Average F1-Score: </a:t>
            </a:r>
            <a:r>
              <a:rPr sz="1800" b="0">
                <a:solidFill>
                  <a:srgbClr val="334155"/>
                </a:solidFill>
                <a:latin typeface="Calibri"/>
              </a:rPr>
              <a:t>Weighted F1-Score of 0.99 confirming strong generalizability across all gesture classes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Inference Latency: </a:t>
            </a:r>
            <a:r>
              <a:rPr sz="1800" b="0">
                <a:solidFill>
                  <a:srgbClr val="334155"/>
                </a:solidFill>
                <a:latin typeface="Calibri"/>
              </a:rPr>
              <a:t>Average frame processing time under 30ms, operating smoothly at 15+ FPS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Per-Class Evaluation Methodology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8046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44"/>
                <a:gridCol w="1609344"/>
                <a:gridCol w="1609344"/>
                <a:gridCol w="1609344"/>
                <a:gridCol w="1609344"/>
              </a:tblGrid>
              <a:tr h="316523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 Gesture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Samples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Afternoon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266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387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290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428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427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Monday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212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401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322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422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238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297</a:t>
                      </a:r>
                    </a:p>
                  </a:txBody>
                  <a:tcPr/>
                </a:tc>
              </a:tr>
              <a:tr h="31652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OVERALL AVG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3,690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48640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4155"/>
                </a:solidFill>
                <a:latin typeface="Calibri"/>
              </a:defRPr>
            </a:pPr>
            <a:r>
              <a:t>Table 1: Per-Class Precision, Recall, F1-Score, and Support Sample Counts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Observations &amp; Result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Perfect Class Differentiation: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Gestures like 'Boy', 'Monday', 'Night', 'People', and 'Person' achieved 1.00 F1-score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Minor Gesture Overlap: </a:t>
            </a:r>
            <a:r>
              <a:rPr sz="1800" b="0">
                <a:solidFill>
                  <a:srgbClr val="334155"/>
                </a:solidFill>
                <a:latin typeface="Calibri"/>
              </a:rPr>
              <a:t>Slight overlap observed between 'Country' (0.96 F1) and 'Time' (0.95 F1) due to similar arm positions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Signer Position Independence: </a:t>
            </a:r>
            <a:r>
              <a:rPr sz="1800" b="0">
                <a:solidFill>
                  <a:srgbClr val="334155"/>
                </a:solidFill>
                <a:latin typeface="Calibri"/>
              </a:rPr>
              <a:t>Keypoint spatial normalization successfully eliminated distance &amp; clothing variations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Resting State Stability: </a:t>
            </a:r>
            <a:r>
              <a:rPr sz="1800" b="0">
                <a:solidFill>
                  <a:srgbClr val="334155"/>
                </a:solidFill>
                <a:latin typeface="Calibri"/>
              </a:rPr>
              <a:t>Hand gating prevented false random predictions when signer arms were at rest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Audio Responsiveness: </a:t>
            </a:r>
            <a:r>
              <a:rPr sz="1800" b="0">
                <a:solidFill>
                  <a:srgbClr val="334155"/>
                </a:solidFill>
                <a:latin typeface="Calibri"/>
              </a:rPr>
              <a:t>Text-to-speech audio feedback triggered smoothly within ~0.4s of gesture completion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Conclusion &amp;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Successful System Delivery: </a:t>
            </a:r>
            <a:r>
              <a:rPr sz="1800" b="0">
                <a:solidFill>
                  <a:srgbClr val="334155"/>
                </a:solidFill>
                <a:latin typeface="Calibri"/>
              </a:rPr>
              <a:t>Built a complete real-time sign language gesture recognition &amp; audio translation system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High Model Performance: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Achieved 98.67% overall test accuracy utilizing MediaPipe keypoints &amp; LSTM architecture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Sign-to-Speech Integration: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Successfully integrated live text display and Pyttsx3 speech audio output for accessibility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Native Desktop Application: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Developed a 100% native Python Tkinter GUI featuring Live View, Recording, &amp; Gallery tabs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Real-World Practicality: </a:t>
            </a:r>
            <a:r>
              <a:rPr sz="1800" b="0">
                <a:solidFill>
                  <a:srgbClr val="334155"/>
                </a:solidFill>
                <a:latin typeface="Calibri"/>
              </a:rPr>
              <a:t>Provides an effective, low-latency communication tool for deaf &amp; hard-of-hearing assistance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Future Scope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Vocabulary Expansion: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Scale vocabulary from 11 signs to full datasets like WLASL (2,000+ signs) or INCLUDE dataset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Sentence-Level Translation: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Extend from word-level gestures to full continuous sentence translation using Transformer models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Mobile &amp; Edge Deployment: </a:t>
            </a:r>
            <a:r>
              <a:rPr sz="1800" b="0">
                <a:solidFill>
                  <a:srgbClr val="334155"/>
                </a:solidFill>
                <a:latin typeface="Calibri"/>
              </a:rPr>
              <a:t>Export model to TensorFlow Lite (TFLite) for deployment on mobile devices &amp; Raspberry Pi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Multi-Language Speech Output: </a:t>
            </a:r>
            <a:r>
              <a:rPr sz="1800" b="0">
                <a:solidFill>
                  <a:srgbClr val="334155"/>
                </a:solidFill>
                <a:latin typeface="Calibri"/>
              </a:rPr>
              <a:t>Add multi-language TTS translation options (e.g. Hindi, Spanish, French audio output)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Dataset Mirror Augmentation: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Incorporate mirror data augmentation for left/right hand signer generalizability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References &amp; Academic 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1. MediaPipe Perception Pipeline Framework: </a:t>
            </a:r>
            <a:r>
              <a:rPr sz="1700" b="0">
                <a:solidFill>
                  <a:srgbClr val="334155"/>
                </a:solidFill>
                <a:latin typeface="Calibri"/>
              </a:rPr>
              <a:t>Lugaresi et al., arXiv:1906.08172, 2019.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  <a:latin typeface="Calibri"/>
              </a:rPr>
              <a:t>   URL: </a:t>
            </a:r>
            <a:r>
              <a:rPr sz="1600" b="1" u="sng">
                <a:solidFill>
                  <a:srgbClr val="0033CC"/>
                </a:solidFill>
                <a:latin typeface="Calibri"/>
                <a:hlinkClick r:id="rId2"/>
              </a:rPr>
              <a:t>https://arxiv.org/abs/1906.08172</a:t>
            </a:r>
          </a:p>
          <a:p>
            <a:pPr>
              <a:spcAft>
                <a:spcPts val="2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2. Long Short-Term Memory (LSTM) Architecture: </a:t>
            </a:r>
            <a:r>
              <a:rPr sz="1700" b="0">
                <a:solidFill>
                  <a:srgbClr val="334155"/>
                </a:solidFill>
                <a:latin typeface="Calibri"/>
              </a:rPr>
              <a:t>Hochreiter &amp; Schmidhuber, Neural Computation 9(8), 1997.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  <a:latin typeface="Calibri"/>
              </a:rPr>
              <a:t>   URL: </a:t>
            </a:r>
            <a:r>
              <a:rPr sz="1600" b="1" u="sng">
                <a:solidFill>
                  <a:srgbClr val="0033CC"/>
                </a:solidFill>
                <a:latin typeface="Calibri"/>
                <a:hlinkClick r:id="rId3"/>
              </a:rPr>
              <a:t>https://doi.org/10.1162/neco.1997.9.8.1735</a:t>
            </a:r>
          </a:p>
          <a:p>
            <a:pPr>
              <a:spcAft>
                <a:spcPts val="2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3. Word-Level Deep Sign Language Recognition: </a:t>
            </a:r>
            <a:r>
              <a:rPr sz="1700" b="0">
                <a:solidFill>
                  <a:srgbClr val="334155"/>
                </a:solidFill>
                <a:latin typeface="Calibri"/>
              </a:rPr>
              <a:t>Li et al., IEEE/CVF CVPR, 2020.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  <a:latin typeface="Calibri"/>
              </a:rPr>
              <a:t>   URL: </a:t>
            </a:r>
            <a:r>
              <a:rPr sz="1600" b="1" u="sng">
                <a:solidFill>
                  <a:srgbClr val="0033CC"/>
                </a:solidFill>
                <a:latin typeface="Calibri"/>
                <a:hlinkClick r:id="rId4"/>
              </a:rPr>
              <a:t>https://openaccess.thecvf.com/content_CVPR_2020/html/Li_Word-Level_Deep_Sign_Language_Recognition_CVPR_2020_paper.html</a:t>
            </a:r>
          </a:p>
          <a:p>
            <a:pPr>
              <a:spcAft>
                <a:spcPts val="2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4. Google MediaPipe Vision Landmark Documentation: </a:t>
            </a:r>
            <a:r>
              <a:rPr sz="1700" b="0">
                <a:solidFill>
                  <a:srgbClr val="334155"/>
                </a:solidFill>
                <a:latin typeface="Calibri"/>
              </a:rPr>
              <a:t>Google AI Edge Solutions, Hand &amp; Pose API, 2026.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  <a:latin typeface="Calibri"/>
              </a:rPr>
              <a:t>   URL: </a:t>
            </a:r>
            <a:r>
              <a:rPr sz="1600" b="1" u="sng">
                <a:solidFill>
                  <a:srgbClr val="0033CC"/>
                </a:solidFill>
                <a:latin typeface="Calibri"/>
                <a:hlinkClick r:id="rId5"/>
              </a:rPr>
              <a:t>https://ai.google.dev/edge/mediapipe/solutions/vision/hand_landmarker</a:t>
            </a:r>
          </a:p>
          <a:p>
            <a:pPr>
              <a:spcAft>
                <a:spcPts val="2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5. Keras 3 &amp; TensorFlow Recurrent Layers API: </a:t>
            </a:r>
            <a:r>
              <a:rPr sz="1700" b="0">
                <a:solidFill>
                  <a:srgbClr val="334155"/>
                </a:solidFill>
                <a:latin typeface="Calibri"/>
              </a:rPr>
              <a:t>TensorFlow / Keras Documentation, 2026.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  <a:latin typeface="Calibri"/>
              </a:rPr>
              <a:t>   URL: </a:t>
            </a:r>
            <a:r>
              <a:rPr sz="1600" b="1" u="sng">
                <a:solidFill>
                  <a:srgbClr val="0033CC"/>
                </a:solidFill>
                <a:latin typeface="Calibri"/>
                <a:hlinkClick r:id="rId6"/>
              </a:rPr>
              <a:t>https://keras.io/api/layers/recurrent_layers/lstm/</a:t>
            </a:r>
          </a:p>
          <a:p>
            <a:pPr>
              <a:spcAft>
                <a:spcPts val="2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6. OpenCV Real-Time Computer Vision Library: </a:t>
            </a:r>
            <a:r>
              <a:rPr sz="1700" b="0">
                <a:solidFill>
                  <a:srgbClr val="334155"/>
                </a:solidFill>
                <a:latin typeface="Calibri"/>
              </a:rPr>
              <a:t>OpenCV Open Source Foundation Documentation, 2026.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34155"/>
                </a:solidFill>
                <a:latin typeface="Calibri"/>
              </a:rPr>
              <a:t>   URL: </a:t>
            </a:r>
            <a:r>
              <a:rPr sz="1600" b="1" u="sng">
                <a:solidFill>
                  <a:srgbClr val="0033CC"/>
                </a:solidFill>
                <a:latin typeface="Calibri"/>
                <a:hlinkClick r:id="rId7"/>
              </a:rPr>
              <a:t>https://docs.opencv.org/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defRPr sz="2800" b="1">
                <a:solidFill>
                  <a:srgbClr val="0033CC"/>
                </a:solidFill>
                <a:latin typeface="Calibri"/>
              </a:defRPr>
            </a:pPr>
            <a:r>
              <a:t>Questions &amp; Discussion</a:t>
            </a:r>
          </a:p>
          <a:p>
            <a:br/>
            <a:pPr algn="ctr">
              <a:defRPr sz="2000" b="0">
                <a:solidFill>
                  <a:srgbClr val="334155"/>
                </a:solidFill>
                <a:latin typeface="Calibri"/>
              </a:defRPr>
            </a:pPr>
            <a:r>
              <a:t>Presented By: Piyush Tiwari</a:t>
            </a:r>
            <a:br/>
            <a:r>
              <a:t>Roll No: 2100270100000 | 7th Sem, CSE-1</a:t>
            </a:r>
            <a:br/>
            <a:r>
              <a:t>IMS Engineering College, Ghaziabad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Noto Sans CJK SC Regular"/>
        <a:cs typeface="Noto Sans CJK SC Regular"/>
      </a:majorFont>
      <a:minorFont>
        <a:latin typeface="Calibri"/>
        <a:ea typeface="Noto Sans CJK SC Regular"/>
        <a:cs typeface="Noto Sans CJK SC Regula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407</Words>
  <Application>WPS Presentation</Application>
  <PresentationFormat>On-screen Show (4:3)</PresentationFormat>
  <Paragraphs>64</Paragraphs>
  <Slides>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Objectives</vt:lpstr>
      <vt:lpstr>Methodology</vt:lpstr>
      <vt:lpstr>Results &amp; Analysis</vt:lpstr>
      <vt:lpstr>Conclusion &amp; Future Work</vt:lpstr>
      <vt:lpstr>Thank You</vt:lpstr>
      <vt:lpstr>Recommended Font Sizes for Internship PPTs Presentation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Evaluation of Routing Protocol  Under Security Attacks</dc:title>
  <dc:creator>SAINATH</dc:creator>
  <cp:lastModifiedBy>Faculty</cp:lastModifiedBy>
  <cp:revision>368</cp:revision>
  <dcterms:created xsi:type="dcterms:W3CDTF">2012-05-24T06:22:00Z</dcterms:created>
  <dcterms:modified xsi:type="dcterms:W3CDTF">2026-07-14T09:29:41Z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FC636E2E2A264E20A1776DCA2C0207AF_13</vt:lpwstr>
  </property>
  <property fmtid="{D5CDD505-2E9C-101B-9397-08002B2CF9AE}" pid="3" name="KSOProductBuildVer">
    <vt:lpwstr>1033-12.2.0.22222</vt:lpwstr>
  </property>
</Properties>
</file>