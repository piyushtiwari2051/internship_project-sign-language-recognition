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73" r:id="rId2"/>
    <p:sldId id="274" r:id="rId8"/>
    <p:sldId id="275" r:id="rId9"/>
    <p:sldId id="276" r:id="rId7"/>
    <p:sldId id="277" r:id="rId6"/>
    <p:sldId id="278" r:id="rId5"/>
    <p:sldId id="279" r:id="rId4"/>
    <p:sldId id="280" r:id="rId3"/>
    <p:sldId id="281" r:id="rId15"/>
    <p:sldId id="282" r:id="rId16"/>
    <p:sldId id="283" r:id="rId17"/>
    <p:sldId id="284" r:id="rId18"/>
    <p:sldId id="285" r:id="rId19"/>
    <p:sldId id="286" r:id="rId20"/>
    <p:sldId id="287" r:id="rId21"/>
    <p:sldId id="288" r:id="rId22"/>
    <p:sldId id="289" r:id="rId23"/>
    <p:sldId id="290" r:id="rId24"/>
  </p:sldIdLst>
  <p:sldSz cx="9144000" cy="6858000" type="screen4x3"/>
  <p:notesSz cx="6858000" cy="9144000"/>
  <p:defaultTextStyle>
    <a:defPPr>
      <a:defRPr lang="en-GB"/>
    </a:defPPr>
    <a:lvl1pPr marL="0" lvl="0" indent="0" algn="l" defTabSz="44958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bg1"/>
        </a:solidFill>
        <a:latin typeface="Arial" panose="020B0604020202020204" pitchFamily="34" charset="0"/>
        <a:ea typeface="+mn-ea"/>
        <a:cs typeface="+mn-cs"/>
      </a:defRPr>
    </a:lvl1pPr>
    <a:lvl2pPr marL="742950" lvl="1" indent="-285750" algn="l" defTabSz="44958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bg1"/>
        </a:solidFill>
        <a:latin typeface="Arial" panose="020B0604020202020204" pitchFamily="34" charset="0"/>
        <a:ea typeface="+mn-ea"/>
        <a:cs typeface="+mn-cs"/>
      </a:defRPr>
    </a:lvl2pPr>
    <a:lvl3pPr marL="1143000" lvl="2" indent="-228600" algn="l" defTabSz="44958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bg1"/>
        </a:solidFill>
        <a:latin typeface="Arial" panose="020B0604020202020204" pitchFamily="34" charset="0"/>
        <a:ea typeface="+mn-ea"/>
        <a:cs typeface="+mn-cs"/>
      </a:defRPr>
    </a:lvl3pPr>
    <a:lvl4pPr marL="1600200" lvl="3" indent="-228600" algn="l" defTabSz="44958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bg1"/>
        </a:solidFill>
        <a:latin typeface="Arial" panose="020B0604020202020204" pitchFamily="34" charset="0"/>
        <a:ea typeface="+mn-ea"/>
        <a:cs typeface="+mn-cs"/>
      </a:defRPr>
    </a:lvl4pPr>
    <a:lvl5pPr marL="2057400" lvl="4" indent="-228600" algn="l" defTabSz="44958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bg1"/>
        </a:solidFill>
        <a:latin typeface="Arial" panose="020B0604020202020204" pitchFamily="34" charset="0"/>
        <a:ea typeface="+mn-ea"/>
        <a:cs typeface="+mn-cs"/>
      </a:defRPr>
    </a:lvl5pPr>
    <a:lvl6pPr marL="2286000" lvl="5" indent="-228600" algn="l" defTabSz="44958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bg1"/>
        </a:solidFill>
        <a:latin typeface="Arial" panose="020B0604020202020204" pitchFamily="34" charset="0"/>
        <a:ea typeface="+mn-ea"/>
        <a:cs typeface="+mn-cs"/>
      </a:defRPr>
    </a:lvl6pPr>
    <a:lvl7pPr marL="2743200" lvl="6" indent="-228600" algn="l" defTabSz="44958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bg1"/>
        </a:solidFill>
        <a:latin typeface="Arial" panose="020B0604020202020204" pitchFamily="34" charset="0"/>
        <a:ea typeface="+mn-ea"/>
        <a:cs typeface="+mn-cs"/>
      </a:defRPr>
    </a:lvl7pPr>
    <a:lvl8pPr marL="3200400" lvl="7" indent="-228600" algn="l" defTabSz="44958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bg1"/>
        </a:solidFill>
        <a:latin typeface="Arial" panose="020B0604020202020204" pitchFamily="34" charset="0"/>
        <a:ea typeface="+mn-ea"/>
        <a:cs typeface="+mn-cs"/>
      </a:defRPr>
    </a:lvl8pPr>
    <a:lvl9pPr marL="3657600" lvl="8" indent="-228600" algn="l" defTabSz="44958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bg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2FDB2607-1784-4EEB-B798-7EB5836EED8A}">
        <p14:showMediaCtrls xmlns:p14="http://schemas.microsoft.com/office/powerpoint/2010/main" xmlns="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howGuides="1">
      <p:cViewPr>
        <p:scale>
          <a:sx n="100" d="100"/>
          <a:sy n="100" d="100"/>
        </p:scale>
        <p:origin x="-516" y="498"/>
      </p:cViewPr>
      <p:guideLst>
        <p:guide orient="horz" pos="2160"/>
        <p:guide pos="2880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8.xml"/><Relationship Id="rId4" Type="http://schemas.openxmlformats.org/officeDocument/2006/relationships/slide" Target="slides/slide7.xml"/><Relationship Id="rId5" Type="http://schemas.openxmlformats.org/officeDocument/2006/relationships/slide" Target="slides/slide6.xml"/><Relationship Id="rId6" Type="http://schemas.openxmlformats.org/officeDocument/2006/relationships/slide" Target="slides/slide5.xml"/><Relationship Id="rId7" Type="http://schemas.openxmlformats.org/officeDocument/2006/relationships/slide" Target="slides/slide4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AutoShape 1"/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</a:ln>
        </p:spPr>
        <p:txBody>
          <a:bodyPr wrap="none" anchor="ctr"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Times New Roman" panose="02020603050405020304" pitchFamily="18" charset="0"/>
              <a:buNone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Noto Sans CJK SC Regular" charset="0"/>
              <a:cs typeface="Arial" panose="020B0604020202020204" pitchFamily="34" charset="0"/>
            </a:endParaRPr>
          </a:p>
        </p:txBody>
      </p:sp>
      <p:sp>
        <p:nvSpPr>
          <p:cNvPr id="2051" name="Text Box 2"/>
          <p:cNvSpPr txBox="1"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Times New Roman" panose="02020603050405020304" pitchFamily="18" charset="0"/>
              <a:buNone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Noto Sans CJK SC Regular" charset="0"/>
              <a:cs typeface="Arial" panose="020B0604020202020204" pitchFamily="34" charset="0"/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/>
          </p:nvPr>
        </p:nvSpPr>
        <p:spPr bwMode="auto">
          <a:xfrm>
            <a:off x="3884613" y="0"/>
            <a:ext cx="2970213" cy="455613"/>
          </a:xfrm>
          <a:prstGeom prst="rect">
            <a:avLst/>
          </a:prstGeom>
          <a:noFill/>
          <a:ln w="9525" cap="flat">
            <a:noFill/>
            <a:round/>
          </a:ln>
          <a:effectLst/>
        </p:spPr>
        <p:txBody>
          <a:bodyPr vert="horz" wrap="square" lIns="90000" tIns="46800" rIns="90000" bIns="46800" numCol="1" anchor="t" anchorCtr="0" compatLnSpc="1"/>
          <a:lstStyle/>
          <a:p>
            <a:pPr lvl="0" algn="r" defTabSz="449580" eaLnBrk="1" hangingPunct="1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altLang="zh-CN" sz="1200" dirty="0">
              <a:solidFill>
                <a:srgbClr val="000000"/>
              </a:solidFill>
              <a:latin typeface="Calibri" panose="020F0502020204030204" pitchFamily="34" charset="0"/>
              <a:ea typeface="SimSun" panose="02010600030101010101" pitchFamily="2" charset="-122"/>
            </a:endParaRPr>
          </a:p>
        </p:txBody>
      </p:sp>
      <p:sp>
        <p:nvSpPr>
          <p:cNvPr id="5125" name="Rectangle 4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0413" cy="3427413"/>
          </a:xfrm>
          <a:prstGeom prst="rect">
            <a:avLst/>
          </a:prstGeom>
          <a:noFill/>
          <a:ln w="12600" cap="sq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3077" name="Rectangle 5"/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3400"/>
            <a:ext cx="5484813" cy="4113213"/>
          </a:xfrm>
          <a:prstGeom prst="rect">
            <a:avLst/>
          </a:prstGeom>
          <a:noFill/>
          <a:ln w="9525" cap="flat">
            <a:noFill/>
            <a:round/>
          </a:ln>
          <a:effectLst/>
        </p:spPr>
        <p:txBody>
          <a:bodyPr vert="horz" wrap="square" lIns="90000" tIns="46800" rIns="90000" bIns="46800" numCol="1" anchor="t" anchorCtr="0" compatLnSpc="1"/>
          <a:lstStyle/>
          <a:p>
            <a:pPr marL="0" marR="0" lvl="0" indent="0" algn="l" defTabSz="44958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Pct val="100000"/>
              <a:buFont typeface="Times New Roman" panose="02020603050405020304" pitchFamily="18" charset="0"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055" name="Text Box 6"/>
          <p:cNvSpPr txBox="1">
            <a:spLocks noChangeArrowheads="1"/>
          </p:cNvSpPr>
          <p:nvPr/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Times New Roman" panose="02020603050405020304" pitchFamily="18" charset="0"/>
              <a:buNone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Noto Sans CJK SC Regular" charset="0"/>
              <a:cs typeface="Arial" panose="020B0604020202020204" pitchFamily="34" charset="0"/>
            </a:endParaRPr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/>
          </p:nvPr>
        </p:nvSpPr>
        <p:spPr bwMode="auto">
          <a:xfrm>
            <a:off x="3884613" y="8685213"/>
            <a:ext cx="2970213" cy="455613"/>
          </a:xfrm>
          <a:prstGeom prst="rect">
            <a:avLst/>
          </a:prstGeom>
          <a:noFill/>
          <a:ln w="9525" cap="flat">
            <a:noFill/>
            <a:round/>
          </a:ln>
          <a:effectLst/>
        </p:spPr>
        <p:txBody>
          <a:bodyPr vert="horz" wrap="square" lIns="90000" tIns="46800" rIns="90000" bIns="46800" numCol="1" anchor="b" anchorCtr="0" compatLnSpc="1"/>
          <a:lstStyle/>
          <a:p>
            <a:pPr lvl="0" algn="r" defTabSz="449580" eaLnBrk="1" hangingPunct="1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A0DB2DC-4C9A-4742-B13C-FB6460FD3503}" type="slidenum">
              <a:rPr lang="en-US" altLang="en-US" sz="1200" dirty="0">
                <a:solidFill>
                  <a:srgbClr val="000000"/>
                </a:solidFill>
                <a:latin typeface="Calibri" panose="020F0502020204030204" pitchFamily="34" charset="0"/>
              </a:rPr>
              <a:pPr lvl="0" algn="r" defTabSz="449580" eaLnBrk="1" hangingPunct="1"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t>‹#›</a:t>
            </a:fld>
            <a:endParaRPr lang="en-US" altLang="en-US" sz="12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defTabSz="449580" rtl="0" eaLnBrk="0" fontAlgn="base" hangingPunct="0">
      <a:spcBef>
        <a:spcPct val="30000"/>
      </a:spcBef>
      <a:spcAft>
        <a:spcPct val="0"/>
      </a:spcAft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1pPr>
    <a:lvl2pPr marL="742950" indent="-285750" algn="l" defTabSz="449580" rtl="0" eaLnBrk="0" fontAlgn="base" hangingPunct="0">
      <a:spcBef>
        <a:spcPct val="30000"/>
      </a:spcBef>
      <a:spcAft>
        <a:spcPct val="0"/>
      </a:spcAft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2pPr>
    <a:lvl3pPr marL="1143000" indent="-228600" algn="l" defTabSz="449580" rtl="0" eaLnBrk="0" fontAlgn="base" hangingPunct="0">
      <a:spcBef>
        <a:spcPct val="30000"/>
      </a:spcBef>
      <a:spcAft>
        <a:spcPct val="0"/>
      </a:spcAft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3pPr>
    <a:lvl4pPr marL="1600200" indent="-228600" algn="l" defTabSz="449580" rtl="0" eaLnBrk="0" fontAlgn="base" hangingPunct="0">
      <a:spcBef>
        <a:spcPct val="30000"/>
      </a:spcBef>
      <a:spcAft>
        <a:spcPct val="0"/>
      </a:spcAft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4pPr>
    <a:lvl5pPr marL="2057400" indent="-228600" algn="l" defTabSz="449580" rtl="0" eaLnBrk="0" fontAlgn="base" hangingPunct="0">
      <a:spcBef>
        <a:spcPct val="30000"/>
      </a:spcBef>
      <a:spcAft>
        <a:spcPct val="0"/>
      </a:spcAft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0212" cy="455612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b" anchorCtr="0"/>
          <a:lstStyle/>
          <a:p>
            <a:pPr lvl="0" algn="r" defTabSz="449580" eaLnBrk="1" hangingPunct="1"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  <a:pPr lvl="0" algn="r" defTabSz="449580" eaLnBrk="1" hangingPunct="1"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t>1</a:t>
            </a:fld>
            <a:endParaRPr lang="en-US" altLang="en-US" dirty="0">
              <a:latin typeface="Calibri" panose="020F0502020204030204" pitchFamily="34" charset="0"/>
            </a:endParaRPr>
          </a:p>
        </p:txBody>
      </p:sp>
      <p:sp>
        <p:nvSpPr>
          <p:cNvPr id="6147" name="Rectangle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>
              <a:alpha val="100000"/>
            </a:srgbClr>
          </a:solidFill>
        </p:spPr>
      </p:sp>
      <p:sp>
        <p:nvSpPr>
          <p:cNvPr id="6148" name="Text Box 2"/>
          <p:cNvSpPr txBox="1"/>
          <p:nvPr/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/>
          <a:p>
            <a:pPr lvl="0" eaLnBrk="1" hangingPunct="1">
              <a:buFont typeface="Times New Roman" panose="02020603050405020304" pitchFamily="18" charset="0"/>
            </a:pPr>
            <a:endParaRPr lang="en-US" altLang="en-US" dirty="0"/>
          </a:p>
        </p:txBody>
      </p:sp>
      <p:sp>
        <p:nvSpPr>
          <p:cNvPr id="6149" name="Text Box 3"/>
          <p:cNvSpPr txBox="1"/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b" anchorCtr="0"/>
          <a:lstStyle/>
          <a:p>
            <a:pPr lvl="0" algn="r" defTabSz="449580" eaLnBrk="1" hangingPunct="1"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  <a:pPr lvl="0" algn="r" defTabSz="449580" eaLnBrk="1" hangingPunct="1"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t>1</a:t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noProof="1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01/20/18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IN" altLang="en-US" dirty="0">
                <a:latin typeface="Arial" panose="020B0604020202020204" pitchFamily="34" charset="0"/>
              </a:rPr>
              <a:pPr lvl="0" eaLnBrk="1" hangingPunct="1">
                <a:buNone/>
              </a:pPr>
              <a:t>‹#›</a:t>
            </a:fld>
            <a:endParaRPr lang="en-I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01/20/18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IN" altLang="en-US" dirty="0">
                <a:latin typeface="Arial" panose="020B0604020202020204" pitchFamily="34" charset="0"/>
              </a:rPr>
              <a:pPr lvl="0" eaLnBrk="1" hangingPunct="1">
                <a:buNone/>
              </a:pPr>
              <a:t>‹#›</a:t>
            </a:fld>
            <a:endParaRPr lang="en-I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01/20/18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IN" altLang="en-US" dirty="0">
                <a:latin typeface="Arial" panose="020B0604020202020204" pitchFamily="34" charset="0"/>
              </a:rPr>
              <a:pPr lvl="0" eaLnBrk="1" hangingPunct="1">
                <a:buNone/>
              </a:pPr>
              <a:t>‹#›</a:t>
            </a:fld>
            <a:endParaRPr lang="en-I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7013" cy="45243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1600200"/>
            <a:ext cx="4038600" cy="45243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01/20/18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IN" altLang="en-US" dirty="0">
                <a:latin typeface="Arial" panose="020B0604020202020204" pitchFamily="34" charset="0"/>
              </a:rPr>
              <a:pPr lvl="0" eaLnBrk="1" hangingPunct="1">
                <a:buNone/>
              </a:pPr>
              <a:t>‹#›</a:t>
            </a:fld>
            <a:endParaRPr lang="en-I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01/20/18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IN" altLang="en-US" dirty="0">
                <a:latin typeface="Arial" panose="020B0604020202020204" pitchFamily="34" charset="0"/>
              </a:rPr>
              <a:pPr lvl="0" eaLnBrk="1" hangingPunct="1">
                <a:buNone/>
              </a:pPr>
              <a:t>‹#›</a:t>
            </a:fld>
            <a:endParaRPr lang="en-I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01/20/18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IN" altLang="en-US" dirty="0">
                <a:latin typeface="Arial" panose="020B0604020202020204" pitchFamily="34" charset="0"/>
              </a:rPr>
              <a:pPr lvl="0" eaLnBrk="1" hangingPunct="1">
                <a:buNone/>
              </a:pPr>
              <a:t>‹#›</a:t>
            </a:fld>
            <a:endParaRPr lang="en-I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01/20/18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IN" altLang="en-US" dirty="0">
                <a:latin typeface="Arial" panose="020B0604020202020204" pitchFamily="34" charset="0"/>
              </a:rPr>
              <a:pPr lvl="0" eaLnBrk="1" hangingPunct="1">
                <a:buNone/>
              </a:pPr>
              <a:t>‹#›</a:t>
            </a:fld>
            <a:endParaRPr lang="en-I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01/20/18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IN" altLang="en-US" dirty="0">
                <a:latin typeface="Arial" panose="020B0604020202020204" pitchFamily="34" charset="0"/>
              </a:rPr>
              <a:pPr lvl="0" eaLnBrk="1" hangingPunct="1">
                <a:buNone/>
              </a:pPr>
              <a:t>‹#›</a:t>
            </a:fld>
            <a:endParaRPr lang="en-I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0000" tIns="46800" rIns="90000" bIns="4680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449580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Tx/>
              <a:buSzPct val="100000"/>
              <a:buFont typeface="Times New Roman" panose="02020603050405020304" pitchFamily="18" charset="0"/>
              <a:buNone/>
              <a:defRPr/>
            </a:pPr>
            <a:endParaRPr kumimoji="0" lang="en-US" sz="3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01/20/18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IN" altLang="en-US" dirty="0">
                <a:latin typeface="Arial" panose="020B0604020202020204" pitchFamily="34" charset="0"/>
              </a:rPr>
              <a:pPr lvl="0" eaLnBrk="1" hangingPunct="1">
                <a:buNone/>
              </a:pPr>
              <a:t>‹#›</a:t>
            </a:fld>
            <a:endParaRPr lang="en-I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01/20/18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IN" altLang="en-US" dirty="0">
                <a:latin typeface="Arial" panose="020B0604020202020204" pitchFamily="34" charset="0"/>
              </a:rPr>
              <a:pPr lvl="0" eaLnBrk="1" hangingPunct="1">
                <a:buNone/>
              </a:pPr>
              <a:t>‹#›</a:t>
            </a:fld>
            <a:endParaRPr lang="en-I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5813" cy="5849937"/>
          </a:xfrm>
        </p:spPr>
        <p:txBody>
          <a:bodyPr vert="eaVert"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49937"/>
          </a:xfrm>
        </p:spPr>
        <p:txBody>
          <a:bodyPr vert="eaVert"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01/20/18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IN" altLang="en-US" dirty="0">
                <a:latin typeface="Arial" panose="020B0604020202020204" pitchFamily="34" charset="0"/>
              </a:rPr>
              <a:pPr lvl="0" eaLnBrk="1" hangingPunct="1">
                <a:buNone/>
              </a:pPr>
              <a:t>‹#›</a:t>
            </a:fld>
            <a:endParaRPr lang="en-I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01/20/18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IN" altLang="en-US" dirty="0">
                <a:latin typeface="Arial" panose="020B0604020202020204" pitchFamily="34" charset="0"/>
              </a:rPr>
              <a:pPr lvl="0" eaLnBrk="1" hangingPunct="1">
                <a:buNone/>
              </a:pPr>
              <a:t>‹#›</a:t>
            </a:fld>
            <a:endParaRPr lang="en-I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8013" cy="1141412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 anchorCtr="0"/>
          <a:lstStyle/>
          <a:p>
            <a:pPr lvl="0"/>
            <a:r>
              <a:rPr lang="en-GB" altLang="en-US" dirty="0"/>
              <a:t>Click to edit the title text format</a:t>
            </a:r>
          </a:p>
        </p:txBody>
      </p:sp>
      <p:sp>
        <p:nvSpPr>
          <p:cNvPr id="1027" name="Rectangle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013" cy="4524375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/>
          <a:lstStyle/>
          <a:p>
            <a:pPr lvl="0"/>
            <a:r>
              <a:rPr lang="en-GB" altLang="en-US" dirty="0"/>
              <a:t>Click to edit the outline text format</a:t>
            </a:r>
          </a:p>
          <a:p>
            <a:pPr lvl="1"/>
            <a:r>
              <a:rPr lang="en-GB" altLang="en-US" dirty="0"/>
              <a:t>Second Outline Level</a:t>
            </a:r>
          </a:p>
          <a:p>
            <a:pPr lvl="2"/>
            <a:r>
              <a:rPr lang="en-GB" altLang="en-US" dirty="0"/>
              <a:t>Third Outline Level</a:t>
            </a:r>
          </a:p>
          <a:p>
            <a:pPr lvl="3"/>
            <a:r>
              <a:rPr lang="en-GB" altLang="en-US" dirty="0"/>
              <a:t>Fourth Outline Level</a:t>
            </a:r>
          </a:p>
          <a:p>
            <a:pPr lvl="4"/>
            <a:r>
              <a:rPr lang="en-GB" altLang="en-US" dirty="0"/>
              <a:t>Fifth Outline Level</a:t>
            </a:r>
          </a:p>
          <a:p>
            <a:pPr lvl="4"/>
            <a:r>
              <a:rPr lang="en-GB" altLang="en-US" dirty="0"/>
              <a:t>Sixth Outline Level</a:t>
            </a:r>
          </a:p>
          <a:p>
            <a:pPr lvl="4"/>
            <a:r>
              <a:rPr lang="en-GB" altLang="en-US" dirty="0"/>
              <a:t>Seventh Outline Level</a:t>
            </a:r>
          </a:p>
        </p:txBody>
      </p:sp>
      <p:sp>
        <p:nvSpPr>
          <p:cNvPr id="2" name="Rectangle 3"/>
          <p:cNvSpPr>
            <a:spLocks noGrp="1" noChangeArrowheads="1"/>
          </p:cNvSpPr>
          <p:nvPr>
            <p:ph type="dt"/>
          </p:nvPr>
        </p:nvSpPr>
        <p:spPr bwMode="auto">
          <a:xfrm>
            <a:off x="457200" y="6356350"/>
            <a:ext cx="2132013" cy="363538"/>
          </a:xfrm>
          <a:prstGeom prst="rect">
            <a:avLst/>
          </a:prstGeom>
          <a:noFill/>
          <a:ln w="9525" cap="flat">
            <a:noFill/>
            <a:round/>
          </a:ln>
          <a:effectLst/>
        </p:spPr>
        <p:txBody>
          <a:bodyPr vert="horz" wrap="square" lIns="90000" tIns="46800" rIns="90000" bIns="46800" numCol="1" anchor="ctr" anchorCtr="0" compatLnSpc="1"/>
          <a:lstStyle>
            <a:lvl1pPr defTabSz="449580" eaLnBrk="1" hangingPunct="1"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01/20/18</a:t>
            </a:r>
          </a:p>
        </p:txBody>
      </p:sp>
      <p:sp>
        <p:nvSpPr>
          <p:cNvPr id="1029" name="Text Box 4"/>
          <p:cNvSpPr txBox="1">
            <a:spLocks noChangeArrowheads="1"/>
          </p:cNvSpPr>
          <p:nvPr/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Times New Roman" panose="02020603050405020304" pitchFamily="18" charset="0"/>
              <a:buNone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Noto Sans CJK SC Regular" charset="0"/>
              <a:cs typeface="Arial" panose="020B0604020202020204" pitchFamily="34" charset="0"/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/>
          </p:nvPr>
        </p:nvSpPr>
        <p:spPr bwMode="auto">
          <a:xfrm>
            <a:off x="6553200" y="6356350"/>
            <a:ext cx="2132013" cy="363538"/>
          </a:xfrm>
          <a:prstGeom prst="rect">
            <a:avLst/>
          </a:prstGeom>
          <a:noFill/>
          <a:ln w="9525" cap="flat">
            <a:noFill/>
            <a:round/>
          </a:ln>
          <a:effectLst/>
        </p:spPr>
        <p:txBody>
          <a:bodyPr vert="horz" wrap="square" lIns="90000" tIns="46800" rIns="90000" bIns="46800" numCol="1" anchor="ctr" anchorCtr="0" compatLnSpc="1"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en-IN" altLang="en-US" dirty="0">
                <a:latin typeface="Arial" panose="020B0604020202020204" pitchFamily="34" charset="0"/>
              </a:rPr>
              <a:pPr lvl="0" eaLnBrk="1" hangingPunct="1">
                <a:buNone/>
              </a:pPr>
              <a:t>‹#›</a:t>
            </a:fld>
            <a:endParaRPr lang="en-IN" altLang="en-US" dirty="0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/>
  <p:txStyles>
    <p:titleStyle>
      <a:lvl1pPr algn="ctr" defTabSz="449580" rtl="0" eaLnBrk="0" fontAlgn="base" hangingPunct="0">
        <a:spcBef>
          <a:spcPct val="0"/>
        </a:spcBef>
        <a:spcAft>
          <a:spcPct val="0"/>
        </a:spcAft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+mj-lt"/>
          <a:ea typeface="+mj-ea"/>
          <a:cs typeface="+mj-cs"/>
        </a:defRPr>
      </a:lvl1pPr>
      <a:lvl2pPr algn="ctr" defTabSz="449580" rtl="0" eaLnBrk="0" fontAlgn="base" hangingPunct="0">
        <a:spcBef>
          <a:spcPct val="0"/>
        </a:spcBef>
        <a:spcAft>
          <a:spcPct val="0"/>
        </a:spcAft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Calibri" panose="020F0502020204030204" pitchFamily="34" charset="0"/>
          <a:ea typeface="Noto Sans CJK SC Regular" charset="0"/>
          <a:cs typeface="Noto Sans CJK SC Regular" charset="0"/>
        </a:defRPr>
      </a:lvl2pPr>
      <a:lvl3pPr algn="ctr" defTabSz="449580" rtl="0" eaLnBrk="0" fontAlgn="base" hangingPunct="0">
        <a:spcBef>
          <a:spcPct val="0"/>
        </a:spcBef>
        <a:spcAft>
          <a:spcPct val="0"/>
        </a:spcAft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Calibri" panose="020F0502020204030204" pitchFamily="34" charset="0"/>
          <a:ea typeface="Noto Sans CJK SC Regular" charset="0"/>
          <a:cs typeface="Noto Sans CJK SC Regular" charset="0"/>
        </a:defRPr>
      </a:lvl3pPr>
      <a:lvl4pPr algn="ctr" defTabSz="449580" rtl="0" eaLnBrk="0" fontAlgn="base" hangingPunct="0">
        <a:spcBef>
          <a:spcPct val="0"/>
        </a:spcBef>
        <a:spcAft>
          <a:spcPct val="0"/>
        </a:spcAft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Calibri" panose="020F0502020204030204" pitchFamily="34" charset="0"/>
          <a:ea typeface="Noto Sans CJK SC Regular" charset="0"/>
          <a:cs typeface="Noto Sans CJK SC Regular" charset="0"/>
        </a:defRPr>
      </a:lvl4pPr>
      <a:lvl5pPr algn="ctr" defTabSz="449580" rtl="0" eaLnBrk="0" fontAlgn="base" hangingPunct="0">
        <a:spcBef>
          <a:spcPct val="0"/>
        </a:spcBef>
        <a:spcAft>
          <a:spcPct val="0"/>
        </a:spcAft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Calibri" panose="020F0502020204030204" pitchFamily="34" charset="0"/>
          <a:ea typeface="Noto Sans CJK SC Regular" charset="0"/>
          <a:cs typeface="Noto Sans CJK SC Regular" charset="0"/>
        </a:defRPr>
      </a:lvl5pPr>
      <a:lvl6pPr marL="2514600" indent="-228600" algn="ctr" defTabSz="44958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Calibri" panose="020F0502020204030204" pitchFamily="34" charset="0"/>
          <a:ea typeface="Noto Sans CJK SC Regular" charset="0"/>
          <a:cs typeface="Noto Sans CJK SC Regular" charset="0"/>
        </a:defRPr>
      </a:lvl6pPr>
      <a:lvl7pPr marL="2971800" indent="-228600" algn="ctr" defTabSz="44958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Calibri" panose="020F0502020204030204" pitchFamily="34" charset="0"/>
          <a:ea typeface="Noto Sans CJK SC Regular" charset="0"/>
          <a:cs typeface="Noto Sans CJK SC Regular" charset="0"/>
        </a:defRPr>
      </a:lvl7pPr>
      <a:lvl8pPr marL="3429000" indent="-228600" algn="ctr" defTabSz="44958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Calibri" panose="020F0502020204030204" pitchFamily="34" charset="0"/>
          <a:ea typeface="Noto Sans CJK SC Regular" charset="0"/>
          <a:cs typeface="Noto Sans CJK SC Regular" charset="0"/>
        </a:defRPr>
      </a:lvl8pPr>
      <a:lvl9pPr marL="3886200" indent="-228600" algn="ctr" defTabSz="44958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Calibri" panose="020F0502020204030204" pitchFamily="34" charset="0"/>
          <a:ea typeface="Noto Sans CJK SC Regular" charset="0"/>
          <a:cs typeface="Noto Sans CJK SC Regular" charset="0"/>
        </a:defRPr>
      </a:lvl9pPr>
    </p:titleStyle>
    <p:bodyStyle>
      <a:lvl1pPr marL="342900" indent="-342900" algn="l" defTabSz="449580" rtl="0" eaLnBrk="0" fontAlgn="base" hangingPunct="0">
        <a:spcBef>
          <a:spcPts val="800"/>
        </a:spcBef>
        <a:spcAft>
          <a:spcPct val="0"/>
        </a:spcAft>
        <a:buSzPct val="100000"/>
        <a:buFont typeface="Times New Roman" panose="02020603050405020304" pitchFamily="18" charset="0"/>
        <a:buChar char="•"/>
        <a:defRPr sz="3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49580" rtl="0" eaLnBrk="0" fontAlgn="base" hangingPunct="0">
        <a:spcBef>
          <a:spcPts val="700"/>
        </a:spcBef>
        <a:spcAft>
          <a:spcPct val="0"/>
        </a:spcAft>
        <a:buSzPct val="100000"/>
        <a:buFont typeface="Times New Roman" panose="02020603050405020304" pitchFamily="18" charset="0"/>
        <a:buChar char="–"/>
        <a:defRPr sz="28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449580" rtl="0" eaLnBrk="0" fontAlgn="base" hangingPunct="0">
        <a:spcBef>
          <a:spcPts val="600"/>
        </a:spcBef>
        <a:spcAft>
          <a:spcPct val="0"/>
        </a:spcAft>
        <a:buSzPct val="100000"/>
        <a:buFont typeface="Times New Roman" panose="02020603050405020304" pitchFamily="18" charset="0"/>
        <a:buChar char="•"/>
        <a:defRPr sz="24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449580" rtl="0" eaLnBrk="0" fontAlgn="base" hangingPunct="0">
        <a:spcBef>
          <a:spcPts val="500"/>
        </a:spcBef>
        <a:spcAft>
          <a:spcPct val="0"/>
        </a:spcAft>
        <a:buSzPct val="100000"/>
        <a:buFont typeface="Times New Roman" panose="02020603050405020304" pitchFamily="18" charset="0"/>
        <a:buChar char="–"/>
        <a:defRPr sz="2000"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449580" rtl="0" eaLnBrk="0" fontAlgn="base" hangingPunct="0">
        <a:spcBef>
          <a:spcPts val="500"/>
        </a:spcBef>
        <a:spcAft>
          <a:spcPct val="0"/>
        </a:spcAft>
        <a:buSzPct val="100000"/>
        <a:buFont typeface="Times New Roman" panose="02020603050405020304" pitchFamily="18" charset="0"/>
        <a:buChar char="»"/>
        <a:defRPr sz="20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449580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000">
          <a:solidFill>
            <a:srgbClr val="000000"/>
          </a:solidFill>
          <a:latin typeface="+mn-lt"/>
          <a:ea typeface="+mn-ea"/>
          <a:cs typeface="+mn-cs"/>
        </a:defRPr>
      </a:lvl6pPr>
      <a:lvl7pPr marL="2971800" indent="-228600" algn="l" defTabSz="449580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000">
          <a:solidFill>
            <a:srgbClr val="000000"/>
          </a:solidFill>
          <a:latin typeface="+mn-lt"/>
          <a:ea typeface="+mn-ea"/>
          <a:cs typeface="+mn-cs"/>
        </a:defRPr>
      </a:lvl7pPr>
      <a:lvl8pPr marL="3429000" indent="-228600" algn="l" defTabSz="449580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000">
          <a:solidFill>
            <a:srgbClr val="000000"/>
          </a:solidFill>
          <a:latin typeface="+mn-lt"/>
          <a:ea typeface="+mn-ea"/>
          <a:cs typeface="+mn-cs"/>
        </a:defRPr>
      </a:lvl8pPr>
      <a:lvl9pPr marL="3886200" indent="-228600" algn="l" defTabSz="449580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000">
          <a:solidFill>
            <a:srgbClr val="000000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rxiv.org/abs/1906.08172" TargetMode="External"/><Relationship Id="rId3" Type="http://schemas.openxmlformats.org/officeDocument/2006/relationships/hyperlink" Target="https://doi.org/10.1162/neco.1997.9.8.1735" TargetMode="External"/><Relationship Id="rId4" Type="http://schemas.openxmlformats.org/officeDocument/2006/relationships/hyperlink" Target="https://openaccess.thecvf.com/content_CVPR_2020/html/Li_Word-Level_Deep_Sign_Language_Recognition_CVPR_2020_paper.html" TargetMode="External"/><Relationship Id="rId5" Type="http://schemas.openxmlformats.org/officeDocument/2006/relationships/hyperlink" Target="https://ai.google.dev/edge/mediapipe/solutions/vision/hand_landmarker" TargetMode="External"/><Relationship Id="rId6" Type="http://schemas.openxmlformats.org/officeDocument/2006/relationships/hyperlink" Target="https://keras.io/api/layers/recurrent_layers/lstm/" TargetMode="External"/><Relationship Id="rId7" Type="http://schemas.openxmlformats.org/officeDocument/2006/relationships/hyperlink" Target="https://docs.opencv.org/" TargetMode="Externa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ext Box 1"/>
          <p:cNvSpPr txBox="1"/>
          <p:nvPr/>
        </p:nvSpPr>
        <p:spPr>
          <a:xfrm>
            <a:off x="228600" y="304800"/>
            <a:ext cx="8610600" cy="10668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algn="ctr" defTabSz="44958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altLang="en-US" sz="3200" b="1" dirty="0">
                <a:solidFill>
                  <a:srgbClr val="000000"/>
                </a:solidFill>
                <a:latin typeface="Calibri" panose="020F0502020204030204" pitchFamily="34" charset="0"/>
              </a:rPr>
              <a:t>   </a:t>
            </a:r>
            <a:r>
              <a:rPr lang="en-I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Assessment </a:t>
            </a:r>
          </a:p>
          <a:p>
            <a:pPr algn="ctr" defTabSz="44958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(Summer Internship</a:t>
            </a:r>
            <a:r>
              <a:rPr lang="en-IN" altLang="en-US" sz="3200" b="1" dirty="0">
                <a:solidFill>
                  <a:srgbClr val="000000"/>
                </a:solidFill>
                <a:latin typeface="Calibri" panose="020F0502020204030204" pitchFamily="34" charset="0"/>
              </a:rPr>
              <a:t>)</a:t>
            </a:r>
          </a:p>
        </p:txBody>
      </p:sp>
      <p:sp>
        <p:nvSpPr>
          <p:cNvPr id="2051" name="Text Box 2"/>
          <p:cNvSpPr txBox="1"/>
          <p:nvPr/>
        </p:nvSpPr>
        <p:spPr>
          <a:xfrm>
            <a:off x="3505200" y="3429000"/>
            <a:ext cx="5486400" cy="13716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defTabSz="449580">
              <a:lnSpc>
                <a:spcPct val="90000"/>
              </a:lnSpc>
              <a:spcBef>
                <a:spcPts val="5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sz="2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   </a:t>
            </a:r>
            <a:r>
              <a:rPr lang="en-US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Submitted By                    Supervised By</a:t>
            </a:r>
          </a:p>
          <a:p>
            <a:pPr defTabSz="449580">
              <a:lnSpc>
                <a:spcPct val="90000"/>
              </a:lnSpc>
              <a:spcBef>
                <a:spcPts val="5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</a:t>
            </a:r>
            <a:r>
              <a:rPr lang="en-I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Piyush Tiwari        	Name of Supervisor</a:t>
            </a:r>
          </a:p>
          <a:p>
            <a:pPr defTabSz="449580">
              <a:lnSpc>
                <a:spcPct val="90000"/>
              </a:lnSpc>
              <a:spcBef>
                <a:spcPts val="5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2100270100000</a:t>
            </a:r>
            <a:r>
              <a:rPr lang="en-IN" alt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IN" altLang="en-US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Designation</a:t>
            </a:r>
            <a:endParaRPr lang="en-IN" altLang="en-US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449580">
              <a:lnSpc>
                <a:spcPct val="90000"/>
              </a:lnSpc>
              <a:spcBef>
                <a:spcPts val="5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altLang="en-US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7</a:t>
            </a:r>
            <a:r>
              <a:rPr lang="en-IN" altLang="en-US" baseline="30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IN" altLang="en-US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Sem, CSE-1                    </a:t>
            </a:r>
            <a:r>
              <a:rPr lang="en-IN" altLang="en-US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Department</a:t>
            </a:r>
            <a:r>
              <a:rPr lang="en-IN" altLang="en-US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CSE</a:t>
            </a:r>
            <a:endParaRPr lang="en-IN" altLang="en-US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052" name="Text Box 3"/>
          <p:cNvSpPr txBox="1"/>
          <p:nvPr/>
        </p:nvSpPr>
        <p:spPr>
          <a:xfrm>
            <a:off x="228600" y="3429000"/>
            <a:ext cx="3429000" cy="129540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/>
          <a:lstStyle/>
          <a:p>
            <a:pPr algn="ctr" defTabSz="449580">
              <a:spcBef>
                <a:spcPts val="5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Submitted To</a:t>
            </a:r>
          </a:p>
          <a:p>
            <a:pPr algn="just" defTabSz="449580">
              <a:spcBef>
                <a:spcPts val="5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	      Mr. Basudeo Singh Roohani</a:t>
            </a:r>
          </a:p>
          <a:p>
            <a:pPr algn="just" defTabSz="449580">
              <a:spcBef>
                <a:spcPts val="5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     </a:t>
            </a:r>
            <a:r>
              <a:rPr lang="en-IN" altLang="en-US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Ms. Swati Singh</a:t>
            </a:r>
            <a:endParaRPr lang="en-IN" altLang="en-US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just" defTabSz="449580">
              <a:spcBef>
                <a:spcPts val="5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     (Internship Coordinators)</a:t>
            </a:r>
          </a:p>
          <a:p>
            <a:pPr algn="ctr" defTabSz="449580">
              <a:spcBef>
                <a:spcPts val="5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altLang="en-US" sz="22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 defTabSz="449580">
              <a:spcBef>
                <a:spcPts val="5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altLang="en-US" sz="2200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053" name="Text Box 4"/>
          <p:cNvSpPr txBox="1"/>
          <p:nvPr/>
        </p:nvSpPr>
        <p:spPr>
          <a:xfrm>
            <a:off x="609600" y="5334000"/>
            <a:ext cx="7772400" cy="129540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/>
          <a:lstStyle/>
          <a:p>
            <a:pPr algn="ctr" defTabSz="449580">
              <a:lnSpc>
                <a:spcPct val="9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Department of Computer Science &amp; Engineering</a:t>
            </a:r>
          </a:p>
          <a:p>
            <a:pPr algn="ctr" defTabSz="449580">
              <a:lnSpc>
                <a:spcPct val="90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IMS Engineering College, Ghaziabad, India</a:t>
            </a:r>
          </a:p>
          <a:p>
            <a:pPr algn="ctr" defTabSz="449580">
              <a:lnSpc>
                <a:spcPct val="90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2026-27)</a:t>
            </a:r>
            <a:endParaRPr lang="en-US" altLang="en-US" sz="2400" b="1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054" name="Text Box 6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 anchorCtr="0"/>
          <a:lstStyle/>
          <a:p>
            <a:pPr algn="r" defTabSz="44958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A0DB2DC-4C9A-4742-B13C-FB6460FD3503}" type="slidenum">
              <a:rPr lang="en-IN" altLang="en-US" sz="1200" dirty="0">
                <a:solidFill>
                  <a:srgbClr val="898989"/>
                </a:solidFill>
                <a:latin typeface="Arial" panose="020B0604020202020204" pitchFamily="34" charset="0"/>
              </a:rPr>
              <a:pPr algn="r" defTabSz="44958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t>1</a:t>
            </a:fld>
            <a:endParaRPr lang="en-IN" altLang="en-US" sz="1200" dirty="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pic>
        <p:nvPicPr>
          <p:cNvPr id="2055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675" y="152400"/>
            <a:ext cx="1795463" cy="18462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6" name="TextBox 1"/>
          <p:cNvSpPr txBox="1"/>
          <p:nvPr/>
        </p:nvSpPr>
        <p:spPr>
          <a:xfrm>
            <a:off x="3238500" y="1143000"/>
            <a:ext cx="2667000" cy="7381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 eaLnBrk="0" hangingPunct="0"/>
            <a:r>
              <a:rPr lang="en-IN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</a:p>
          <a:p>
            <a:pPr algn="ctr" eaLnBrk="0" hangingPunct="0"/>
            <a:r>
              <a:rPr lang="en-I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Presentation</a:t>
            </a:r>
            <a:endParaRPr lang="en-I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057" name="TextBox 8"/>
          <p:cNvSpPr txBox="1"/>
          <p:nvPr/>
        </p:nvSpPr>
        <p:spPr>
          <a:xfrm>
            <a:off x="2667000" y="2057400"/>
            <a:ext cx="3733800" cy="646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/>
            <a:r>
              <a:rPr lang="en-US" altLang="x-none" b="1" dirty="0">
                <a:solidFill>
                  <a:schemeClr val="tx1"/>
                </a:solidFill>
                <a:latin typeface="Arial" panose="020B0604020202020204" pitchFamily="34" charset="0"/>
              </a:rPr>
              <a:t>On</a:t>
            </a:r>
          </a:p>
          <a:p>
            <a:pPr algn="ctr">
              <a:defRPr sz="2200" b="1">
                <a:solidFill>
                  <a:srgbClr val="FF0000"/>
                </a:solidFill>
                <a:latin typeface="Calibri"/>
              </a:defRPr>
            </a:pPr>
            <a:r>
              <a:t>Real-Time Sign Language Recognition &amp; Translation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Calibri"/>
              </a:defRPr>
            </a:pPr>
            <a:r>
              <a:t>Outline &amp; Table of 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59436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334155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1. Introduction &amp; Objectives: </a:t>
            </a:r>
            <a:r>
              <a:rPr sz="1800" b="0">
                <a:solidFill>
                  <a:srgbClr val="334155"/>
                </a:solidFill>
                <a:latin typeface="Calibri"/>
              </a:rPr>
              <a:t>Domain of work, assistive AI technology &amp; project goals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2. Problem Statement: </a:t>
            </a:r>
            <a:r>
              <a:rPr sz="1800" b="0">
                <a:solidFill>
                  <a:srgbClr val="334155"/>
                </a:solidFill>
                <a:latin typeface="Calibri"/>
              </a:rPr>
              <a:t>Challenges in sign language translation &amp; pixel-level limitations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3. Requirement Analysis: </a:t>
            </a:r>
            <a:r>
              <a:rPr sz="1800" b="0">
                <a:solidFill>
                  <a:srgbClr val="334155"/>
                </a:solidFill>
                <a:latin typeface="Calibri"/>
              </a:rPr>
              <a:t>Hardware setup &amp; software stack (MediaPipe, TensorFlow, OpenCV)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4. System Architecture: </a:t>
            </a:r>
            <a:r>
              <a:rPr sz="1800" b="0">
                <a:solidFill>
                  <a:srgbClr val="334155"/>
                </a:solidFill>
                <a:latin typeface="Calibri"/>
              </a:rPr>
              <a:t>End-to-end data pipeline flow &amp; system module design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5. Keypoint Extraction: </a:t>
            </a:r>
            <a:r>
              <a:rPr sz="1800" b="0">
                <a:solidFill>
                  <a:srgbClr val="334155"/>
                </a:solidFill>
                <a:latin typeface="Calibri"/>
              </a:rPr>
              <a:t>Spatial landmark extraction (Hands &amp; Pose)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18872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6. Dataset &amp; Feature Details: </a:t>
            </a:r>
            <a:r>
              <a:rPr sz="1800" b="0">
                <a:solidFill>
                  <a:srgbClr val="334155"/>
                </a:solidFill>
                <a:latin typeface="Calibri"/>
              </a:rPr>
              <a:t>Sliding window aggregation (18 statistical features)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7. Sequence LSTM Classifier: </a:t>
            </a:r>
            <a:r>
              <a:rPr sz="1800" b="0">
                <a:solidFill>
                  <a:srgbClr val="334155"/>
                </a:solidFill>
                <a:latin typeface="Calibri"/>
              </a:rPr>
              <a:t>Multi-layer LSTM model architecture &amp; loss optimization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8. Desktop GUI &amp; Speech Translation: </a:t>
            </a:r>
            <a:r>
              <a:rPr sz="1800" b="0">
                <a:solidFill>
                  <a:srgbClr val="334155"/>
                </a:solidFill>
                <a:latin typeface="Calibri"/>
              </a:rPr>
              <a:t>Native Python Tkinter app &amp; Pyttsx3 speech synthesis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9. Results &amp; Performance Analysis: </a:t>
            </a:r>
            <a:r>
              <a:rPr sz="1800" b="0">
                <a:solidFill>
                  <a:srgbClr val="334155"/>
                </a:solidFill>
                <a:latin typeface="Calibri"/>
              </a:rPr>
              <a:t>Accuracy (98.67%), F1-Score (0.99), &amp; per-class table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10. Conclusion &amp; References: </a:t>
            </a:r>
            <a:r>
              <a:rPr sz="1800" b="0">
                <a:solidFill>
                  <a:srgbClr val="334155"/>
                </a:solidFill>
                <a:latin typeface="Calibri"/>
              </a:rPr>
              <a:t>Summary of achievements, future scope &amp; academic 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Calibri"/>
              </a:defRPr>
            </a:pPr>
            <a:r>
              <a:t>Introduction &amp;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59436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334155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Domain of Work: </a:t>
            </a:r>
            <a:r>
              <a:rPr sz="1800" b="0">
                <a:solidFill>
                  <a:srgbClr val="334155"/>
                </a:solidFill>
                <a:latin typeface="Calibri"/>
              </a:rPr>
              <a:t>Computer Vision, Deep Learning &amp; Accessibility Assistive Technology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Social Relevance: </a:t>
            </a:r>
            <a:r>
              <a:rPr sz="1800" b="0">
                <a:solidFill>
                  <a:srgbClr val="334155"/>
                </a:solidFill>
                <a:latin typeface="Calibri"/>
              </a:rPr>
              <a:t>Over 70 million deaf individuals globally rely on sign language for daily communication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Primary Objective: </a:t>
            </a:r>
            <a:r>
              <a:rPr sz="1800" b="0">
                <a:solidFill>
                  <a:srgbClr val="334155"/>
                </a:solidFill>
                <a:latin typeface="Calibri"/>
              </a:rPr>
              <a:t>Develop a real-time, non-invasive translation system converting webcam gestures into text &amp; voice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Key Approach: </a:t>
            </a:r>
            <a:r>
              <a:rPr sz="1800" b="0">
                <a:solidFill>
                  <a:srgbClr val="334155"/>
                </a:solidFill>
                <a:latin typeface="Calibri"/>
              </a:rPr>
              <a:t>Extract compact 3D spatial keypoints per frame and classify keypoint sequences using an LSTM model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Sign-to-Speech Integration: </a:t>
            </a:r>
            <a:r>
              <a:rPr sz="1800" b="0">
                <a:solidFill>
                  <a:srgbClr val="334155"/>
                </a:solidFill>
                <a:latin typeface="Calibri"/>
              </a:rPr>
              <a:t>Integrate Text-to-Speech (TTS) audio output for seamless real-time communication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Calibri"/>
              </a:defRPr>
            </a:pPr>
            <a:r>
              <a:t>Problem Statement &amp;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59436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334155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Raw Video Heavy &amp; Noisy: </a:t>
            </a:r>
            <a:r>
              <a:rPr sz="1800" b="0">
                <a:solidFill>
                  <a:srgbClr val="334155"/>
                </a:solidFill>
                <a:latin typeface="Calibri"/>
              </a:rPr>
              <a:t>Raw video frames contain high spatial redundancy, background noise, and heavy memory cost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Limitations of Existing CNN Methods: </a:t>
            </a:r>
            <a:r>
              <a:rPr sz="1800" b="0">
                <a:solidFill>
                  <a:srgbClr val="334155"/>
                </a:solidFill>
                <a:latin typeface="Calibri"/>
              </a:rPr>
              <a:t>Direct frame-by-frame CNN classifiers fail on temporal gesture dynamics and suffer from high latency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Signer Position Dependency: </a:t>
            </a:r>
            <a:r>
              <a:rPr sz="1800" b="0">
                <a:solidFill>
                  <a:srgbClr val="334155"/>
                </a:solidFill>
                <a:latin typeface="Calibri"/>
              </a:rPr>
              <a:t>Raw pixel models degrade when signer distance, clothing, or background lighting changes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Our Proposed Solution: </a:t>
            </a:r>
            <a:r>
              <a:rPr sz="1800" b="0">
                <a:solidFill>
                  <a:srgbClr val="334155"/>
                </a:solidFill>
                <a:latin typeface="Calibri"/>
              </a:rPr>
              <a:t>Replace raw pixels with 3D pose/hand keypoint sequences, ensuring position scale invariance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Real-Time Constraint: </a:t>
            </a:r>
            <a:r>
              <a:rPr sz="1800" b="0">
                <a:solidFill>
                  <a:srgbClr val="334155"/>
                </a:solidFill>
                <a:latin typeface="Calibri"/>
              </a:rPr>
              <a:t>Achieve fast sub-50ms inference latency suitable for continuous live webcam translation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Calibri"/>
              </a:defRPr>
            </a:pPr>
            <a:r>
              <a:t>Requirement Analysis (S/W &amp; H/W)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59436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334155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Hardware Requirements: </a:t>
            </a:r>
            <a:r>
              <a:rPr sz="1800" b="0">
                <a:solidFill>
                  <a:srgbClr val="334155"/>
                </a:solidFill>
                <a:latin typeface="Calibri"/>
              </a:rPr>
              <a:t>Standard HD Webcam (640x480 resolution @ 15+ FPS), Intel Core i5/i7, 8GB RAM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Programming Language: </a:t>
            </a:r>
            <a:r>
              <a:rPr sz="1800" b="0">
                <a:solidFill>
                  <a:srgbClr val="334155"/>
                </a:solidFill>
                <a:latin typeface="Calibri"/>
              </a:rPr>
              <a:t>Python 3.11 (Core logic, OpenCV capture, &amp; deep learning execution)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Computer Vision Library: </a:t>
            </a:r>
            <a:r>
              <a:rPr sz="1800" b="0">
                <a:solidFill>
                  <a:srgbClr val="334155"/>
                </a:solidFill>
                <a:latin typeface="Calibri"/>
              </a:rPr>
              <a:t>Google MediaPipe 0.10.21 (Fingertip &amp; upper-body pose landmark extraction)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Deep Learning Framework: </a:t>
            </a:r>
            <a:r>
              <a:rPr sz="1800" b="0">
                <a:solidFill>
                  <a:srgbClr val="334155"/>
                </a:solidFill>
                <a:latin typeface="Calibri"/>
              </a:rPr>
              <a:t>TensorFlow 2.17 &amp; Keras 3.3 (Multi-layer LSTM model training &amp; inference)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User Interface &amp; Audio Engine: </a:t>
            </a:r>
            <a:r>
              <a:rPr sz="1800" b="0">
                <a:solidFill>
                  <a:srgbClr val="334155"/>
                </a:solidFill>
                <a:latin typeface="Calibri"/>
              </a:rPr>
              <a:t>Python Native Tkinter GUI framework &amp; Pyttsx3 Text-to-Speech audio engine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Calibri"/>
              </a:defRPr>
            </a:pPr>
            <a:r>
              <a:t>System Methodology &amp; Data Flowchart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59436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334155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2194560" cy="1554480"/>
          </a:xfrm>
          <a:prstGeom prst="roundRect">
            <a:avLst/>
          </a:prstGeom>
          <a:solidFill>
            <a:srgbClr val="E0F2FE"/>
          </a:solidFill>
          <a:ln w="31750">
            <a:solidFill>
              <a:srgbClr val="003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033CC"/>
                </a:solidFill>
                <a:latin typeface="Calibri"/>
              </a:defRPr>
            </a:pPr>
            <a:r>
              <a:t>STAGE 1</a:t>
            </a:r>
          </a:p>
          <a:p>
            <a:pPr algn="ctr">
              <a:defRPr sz="1500" b="1">
                <a:solidFill>
                  <a:srgbClr val="0F172A"/>
                </a:solidFill>
                <a:latin typeface="Calibri"/>
              </a:defRPr>
            </a:pPr>
            <a:r>
              <a:t>Webcam Capture</a:t>
            </a:r>
            <a:br/>
            <a:r>
              <a:t>(640x480 @ 15 FPS)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788920" y="1920240"/>
            <a:ext cx="457200" cy="274320"/>
          </a:xfrm>
          <a:prstGeom prst="rightArrow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291840" y="1280160"/>
            <a:ext cx="2194560" cy="1554480"/>
          </a:xfrm>
          <a:prstGeom prst="roundRect">
            <a:avLst/>
          </a:prstGeom>
          <a:solidFill>
            <a:srgbClr val="E0F2FE"/>
          </a:solidFill>
          <a:ln w="317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8B5CF6"/>
                </a:solidFill>
                <a:latin typeface="Calibri"/>
              </a:defRPr>
            </a:pPr>
            <a:r>
              <a:t>STAGE 2</a:t>
            </a:r>
          </a:p>
          <a:p>
            <a:pPr algn="ctr">
              <a:defRPr sz="1500" b="1">
                <a:solidFill>
                  <a:srgbClr val="0F172A"/>
                </a:solidFill>
                <a:latin typeface="Calibri"/>
              </a:defRPr>
            </a:pPr>
            <a:r>
              <a:t>MediaPipe Extraction</a:t>
            </a:r>
            <a:br/>
            <a:r>
              <a:t>(Hands &amp; Pose Joints)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532120" y="1920240"/>
            <a:ext cx="457200" cy="274320"/>
          </a:xfrm>
          <a:prstGeom prst="rightArrow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035040" y="1280160"/>
            <a:ext cx="2194560" cy="1554480"/>
          </a:xfrm>
          <a:prstGeom prst="roundRect">
            <a:avLst/>
          </a:prstGeom>
          <a:solidFill>
            <a:srgbClr val="E0F2FE"/>
          </a:solidFill>
          <a:ln w="31750">
            <a:solidFill>
              <a:srgbClr val="003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033CC"/>
                </a:solidFill>
                <a:latin typeface="Calibri"/>
              </a:defRPr>
            </a:pPr>
            <a:r>
              <a:t>STAGE 3</a:t>
            </a:r>
          </a:p>
          <a:p>
            <a:pPr algn="ctr">
              <a:defRPr sz="1500" b="1">
                <a:solidFill>
                  <a:srgbClr val="0F172A"/>
                </a:solidFill>
                <a:latin typeface="Calibri"/>
              </a:defRPr>
            </a:pPr>
            <a:r>
              <a:t>Sliding Window</a:t>
            </a:r>
            <a:br/>
            <a:r>
              <a:t>(0.5s Feature Aggregation)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383279"/>
            <a:ext cx="2194560" cy="1554480"/>
          </a:xfrm>
          <a:prstGeom prst="roundRect">
            <a:avLst/>
          </a:prstGeom>
          <a:solidFill>
            <a:srgbClr val="E0F2FE"/>
          </a:solidFill>
          <a:ln w="317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  <a:latin typeface="Calibri"/>
              </a:defRPr>
            </a:pPr>
            <a:r>
              <a:t>STAGE 4</a:t>
            </a:r>
          </a:p>
          <a:p>
            <a:pPr algn="ctr">
              <a:defRPr sz="1500" b="1">
                <a:solidFill>
                  <a:srgbClr val="0F172A"/>
                </a:solidFill>
                <a:latin typeface="Calibri"/>
              </a:defRPr>
            </a:pPr>
            <a:r>
              <a:t>Normalization</a:t>
            </a:r>
            <a:br/>
            <a:r>
              <a:t>(StandardScaler Normalizer)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788920" y="4023359"/>
            <a:ext cx="457200" cy="274320"/>
          </a:xfrm>
          <a:prstGeom prst="rightArrow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291840" y="3383279"/>
            <a:ext cx="2194560" cy="1554480"/>
          </a:xfrm>
          <a:prstGeom prst="roundRect">
            <a:avLst/>
          </a:prstGeom>
          <a:solidFill>
            <a:srgbClr val="E0F2FE"/>
          </a:solidFill>
          <a:ln w="317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8B5CF6"/>
                </a:solidFill>
                <a:latin typeface="Calibri"/>
              </a:defRPr>
            </a:pPr>
            <a:r>
              <a:t>STAGE 5</a:t>
            </a:r>
          </a:p>
          <a:p>
            <a:pPr algn="ctr">
              <a:defRPr sz="1500" b="1">
                <a:solidFill>
                  <a:srgbClr val="0F172A"/>
                </a:solidFill>
                <a:latin typeface="Calibri"/>
              </a:defRPr>
            </a:pPr>
            <a:r>
              <a:t>LSTM Sequence Net</a:t>
            </a:r>
            <a:br/>
            <a:r>
              <a:t>(5-Window Input Tensor)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532120" y="4023359"/>
            <a:ext cx="457200" cy="274320"/>
          </a:xfrm>
          <a:prstGeom prst="rightArrow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0" y="3383279"/>
            <a:ext cx="2194560" cy="1554480"/>
          </a:xfrm>
          <a:prstGeom prst="roundRect">
            <a:avLst/>
          </a:prstGeom>
          <a:solidFill>
            <a:srgbClr val="E0F2FE"/>
          </a:solidFill>
          <a:ln w="317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0B981"/>
                </a:solidFill>
                <a:latin typeface="Calibri"/>
              </a:defRPr>
            </a:pPr>
            <a:r>
              <a:t>STAGE 6</a:t>
            </a:r>
          </a:p>
          <a:p>
            <a:pPr algn="ctr">
              <a:defRPr sz="1500" b="1">
                <a:solidFill>
                  <a:srgbClr val="0F172A"/>
                </a:solidFill>
                <a:latin typeface="Calibri"/>
              </a:defRPr>
            </a:pPr>
            <a:r>
              <a:t>GUI &amp; Audio Speech</a:t>
            </a:r>
            <a:br/>
            <a:r>
              <a:t>(Hero Box + Pyttsx3 TTS)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394960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334155"/>
                </a:solidFill>
                <a:latin typeface="Calibri"/>
              </a:defRPr>
            </a:pPr>
            <a:r>
              <a:t>Figure 1: End-to-End Real-Time Gesture Recognition Data Flow Pipeline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Calibri"/>
              </a:defRPr>
            </a:pPr>
            <a:r>
              <a:t>Keypoint Extraction &amp; Normalization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59436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334155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Hand Landmarks Extraction: </a:t>
            </a:r>
            <a:r>
              <a:rPr sz="1800" b="0">
                <a:solidFill>
                  <a:srgbClr val="334155"/>
                </a:solidFill>
                <a:latin typeface="Calibri"/>
              </a:rPr>
              <a:t>Extracts 5 fingertip joints (thumb, index, middle, ring, pinky) per hand (X, Y, Z coordinates)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Upper-Body Pose Landmarks: </a:t>
            </a:r>
            <a:r>
              <a:rPr sz="1800" b="0">
                <a:solidFill>
                  <a:srgbClr val="334155"/>
                </a:solidFill>
                <a:latin typeface="Calibri"/>
              </a:rPr>
              <a:t>Extracts 6 upper-body joints (shoulders, elbows, wrists) for posture tracking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Statistical Feature Aggregation: </a:t>
            </a:r>
            <a:r>
              <a:rPr sz="1800" b="0">
                <a:solidFill>
                  <a:srgbClr val="334155"/>
                </a:solidFill>
                <a:latin typeface="Calibri"/>
              </a:rPr>
              <a:t>Computes Mean and Standard Deviation per 0.5s sliding window (~7-8 frames)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Scale &amp; Position Invariance: </a:t>
            </a:r>
            <a:r>
              <a:rPr sz="1800" b="0">
                <a:solidFill>
                  <a:srgbClr val="334155"/>
                </a:solidFill>
                <a:latin typeface="Calibri"/>
              </a:rPr>
              <a:t>StandardScaler normalization ensures robustness regardless of signer camera distance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Compact Vector Dimension: </a:t>
            </a:r>
            <a:r>
              <a:rPr sz="1800" b="0">
                <a:solidFill>
                  <a:srgbClr val="334155"/>
                </a:solidFill>
                <a:latin typeface="Calibri"/>
              </a:rPr>
              <a:t>Reduces full video frame data into a compact 18-element feature vector per window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Calibri"/>
              </a:defRPr>
            </a:pPr>
            <a:r>
              <a:t>Dataset &amp; Feature 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59436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334155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Dataset Size &amp; Support: </a:t>
            </a:r>
            <a:r>
              <a:rPr sz="1800" b="0">
                <a:solidFill>
                  <a:srgbClr val="334155"/>
                </a:solidFill>
                <a:latin typeface="Calibri"/>
              </a:rPr>
              <a:t>Curated dataset containing 3,690 gesture sequence samples across 11 sign classes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Target Sign Vocabulary: </a:t>
            </a:r>
            <a:r>
              <a:rPr sz="1800" b="0">
                <a:solidFill>
                  <a:srgbClr val="334155"/>
                </a:solidFill>
                <a:latin typeface="Calibri"/>
              </a:rPr>
              <a:t>Afternoon, Age, Boy, Country, Day, Monday, Name, Night, People, Person, Time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Temporal Window Length: </a:t>
            </a:r>
            <a:r>
              <a:rPr sz="1800" b="0">
                <a:solidFill>
                  <a:srgbClr val="334155"/>
                </a:solidFill>
                <a:latin typeface="Calibri"/>
              </a:rPr>
              <a:t>Fixed 0.5-second sliding window duration (target sampling rate: 15 FPS)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Sequence Stacking: </a:t>
            </a:r>
            <a:r>
              <a:rPr sz="1800" b="0">
                <a:solidFill>
                  <a:srgbClr val="334155"/>
                </a:solidFill>
                <a:latin typeface="Calibri"/>
              </a:rPr>
              <a:t>5 consecutive feature windows stacked into an input matrix of shape (1, 5, 18)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Database Storage: </a:t>
            </a:r>
            <a:r>
              <a:rPr sz="1800" b="0">
                <a:solidFill>
                  <a:srgbClr val="334155"/>
                </a:solidFill>
                <a:latin typeface="Calibri"/>
              </a:rPr>
              <a:t>Stored using SQLite schema tracking video metadata, frame landmarks, and feature matrices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Calibri"/>
              </a:defRPr>
            </a:pPr>
            <a:r>
              <a:t>Sequence LSTM Model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59436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334155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Input Layer Shape: </a:t>
            </a:r>
            <a:r>
              <a:rPr sz="1800" b="0">
                <a:solidFill>
                  <a:srgbClr val="334155"/>
                </a:solidFill>
                <a:latin typeface="Calibri"/>
              </a:rPr>
              <a:t>(5, 18) representing 5 time-step windows of 18 normalized keypoint features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LSTM Layer 1: </a:t>
            </a:r>
            <a:r>
              <a:rPr sz="1800" b="0">
                <a:solidFill>
                  <a:srgbClr val="334155"/>
                </a:solidFill>
                <a:latin typeface="Calibri"/>
              </a:rPr>
              <a:t>128 Recurrent LSTM Units with Dropout (0.3) &amp; Batch Normalization for regularization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LSTM Layer 2: </a:t>
            </a:r>
            <a:r>
              <a:rPr sz="1800" b="0">
                <a:solidFill>
                  <a:srgbClr val="334155"/>
                </a:solidFill>
                <a:latin typeface="Calibri"/>
              </a:rPr>
              <a:t>64 Recurrent LSTM Units capturing higher-level temporal gesture dynamics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Dense Classification Layer: </a:t>
            </a:r>
            <a:r>
              <a:rPr sz="1800" b="0">
                <a:solidFill>
                  <a:srgbClr val="334155"/>
                </a:solidFill>
                <a:latin typeface="Calibri"/>
              </a:rPr>
              <a:t>64 Dense Neurons with ReLU activation &amp; Dropout (0.3)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Output Softmax Layer: </a:t>
            </a:r>
            <a:r>
              <a:rPr sz="1800" b="0">
                <a:solidFill>
                  <a:srgbClr val="334155"/>
                </a:solidFill>
                <a:latin typeface="Calibri"/>
              </a:rPr>
              <a:t>11 Output Neurons producing Softmax confidence probabilities over sign vocabulary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Calibri"/>
              </a:defRPr>
            </a:pPr>
            <a:r>
              <a:t>Desktop GUI Implementation (Tkinter)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59436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334155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100% Native Python Desktop GUI: </a:t>
            </a:r>
            <a:r>
              <a:rPr sz="1800" b="0">
                <a:solidFill>
                  <a:srgbClr val="334155"/>
                </a:solidFill>
                <a:latin typeface="Calibri"/>
              </a:rPr>
              <a:t>Built using Python Tkinter &amp; Pillow (cv2main.py) for a clean, natural software feel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Live Video Viewport: </a:t>
            </a:r>
            <a:r>
              <a:rPr sz="1800" b="0">
                <a:solidFill>
                  <a:srgbClr val="334155"/>
                </a:solidFill>
                <a:latin typeface="Calibri"/>
              </a:rPr>
              <a:t>Displays real-time OpenCV camera feed with MediaPipe landmark skeleton overlays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Prediction Hero Display: </a:t>
            </a:r>
            <a:r>
              <a:rPr sz="1800" b="0">
                <a:solidFill>
                  <a:srgbClr val="334155"/>
                </a:solidFill>
                <a:latin typeface="Calibri"/>
              </a:rPr>
              <a:t>Prominently displays top predicted gesture text in a clear, bold hero card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Confidence Progress Meters: </a:t>
            </a:r>
            <a:r>
              <a:rPr sz="1800" b="0">
                <a:solidFill>
                  <a:srgbClr val="334155"/>
                </a:solidFill>
                <a:latin typeface="Calibri"/>
              </a:rPr>
              <a:t>Native ttk.Progressbar widgets detailing real-time top-3 gesture probabilities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Dataset Management Tabs: </a:t>
            </a:r>
            <a:r>
              <a:rPr sz="1800" b="0">
                <a:solidFill>
                  <a:srgbClr val="334155"/>
                </a:solidFill>
                <a:latin typeface="Calibri"/>
              </a:rPr>
              <a:t>Includes dedicated tabs for Recording Videos, Importing Files, and Dataset Video Gallery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Calibri"/>
              </a:defRPr>
            </a:pPr>
            <a:r>
              <a:t>Active Hand Gating &amp; Sign-to-Speech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59436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334155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Active Hand Detection Gating: </a:t>
            </a:r>
            <a:r>
              <a:rPr sz="1800" b="0">
                <a:solidFill>
                  <a:srgbClr val="334155"/>
                </a:solidFill>
                <a:latin typeface="Calibri"/>
              </a:rPr>
              <a:t>Prevents false predictions when resting; displays [ NO HAND DETECTED ] when inactive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Confidence Thresholding: </a:t>
            </a:r>
            <a:r>
              <a:rPr sz="1800" b="0">
                <a:solidFill>
                  <a:srgbClr val="334155"/>
                </a:solidFill>
                <a:latin typeface="Calibri"/>
              </a:rPr>
              <a:t>Requires a minimum 45% probability threshold before displaying sign gesture output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Text-to-Speech (TTS) Integration: </a:t>
            </a:r>
            <a:r>
              <a:rPr sz="1800" b="0">
                <a:solidFill>
                  <a:srgbClr val="334155"/>
                </a:solidFill>
                <a:latin typeface="Calibri"/>
              </a:rPr>
              <a:t>Asynchronous Pyttsx3 speech engine speaks recognized gesture words aloud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Audio Toggle Control: </a:t>
            </a:r>
            <a:r>
              <a:rPr sz="1800" b="0">
                <a:solidFill>
                  <a:srgbClr val="334155"/>
                </a:solidFill>
                <a:latin typeface="Calibri"/>
              </a:rPr>
              <a:t>Includes a GUI checkbox enabling/disabling voice output for user preference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Sub-30ms Inference Latency: </a:t>
            </a:r>
            <a:r>
              <a:rPr sz="1800" b="0">
                <a:solidFill>
                  <a:srgbClr val="334155"/>
                </a:solidFill>
                <a:latin typeface="Calibri"/>
              </a:rPr>
              <a:t>Ensures smooth live translation without lag or freezing during continuous signing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Calibri"/>
              </a:defRPr>
            </a:pPr>
            <a:r>
              <a:t>Empirical Results &amp; Model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59436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334155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Overall Test Accuracy: </a:t>
            </a:r>
            <a:r>
              <a:rPr sz="1800" b="0">
                <a:solidFill>
                  <a:srgbClr val="334155"/>
                </a:solidFill>
                <a:latin typeface="Calibri"/>
              </a:rPr>
              <a:t>Achieved 98.67% (0.9867) classification accuracy on 3,690 test evaluation samples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Overall Test Loss: </a:t>
            </a:r>
            <a:r>
              <a:rPr sz="1800" b="0">
                <a:solidFill>
                  <a:srgbClr val="334155"/>
                </a:solidFill>
                <a:latin typeface="Calibri"/>
              </a:rPr>
              <a:t>Achieved low cross-entropy loss of 0.0459 during test set evaluation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Macro Average F1-Score: </a:t>
            </a:r>
            <a:r>
              <a:rPr sz="1800" b="0">
                <a:solidFill>
                  <a:srgbClr val="334155"/>
                </a:solidFill>
                <a:latin typeface="Calibri"/>
              </a:rPr>
              <a:t>Macro F1-Score of 0.99 demonstrating balanced per-class model accuracy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Weighted Average F1-Score: </a:t>
            </a:r>
            <a:r>
              <a:rPr sz="1800" b="0">
                <a:solidFill>
                  <a:srgbClr val="334155"/>
                </a:solidFill>
                <a:latin typeface="Calibri"/>
              </a:rPr>
              <a:t>Weighted F1-Score of 0.99 confirming strong generalizability across all gesture classes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Inference Latency: </a:t>
            </a:r>
            <a:r>
              <a:rPr sz="1800" b="0">
                <a:solidFill>
                  <a:srgbClr val="334155"/>
                </a:solidFill>
                <a:latin typeface="Calibri"/>
              </a:rPr>
              <a:t>Average frame processing time under 30ms, operating smoothly at 15+ FPS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Calibri"/>
              </a:defRPr>
            </a:pPr>
            <a:r>
              <a:t>Per-Class Evaluation Methodology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59436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334155"/>
                </a:solidFill>
                <a:latin typeface="Calibri"/>
              </a:defRPr>
            </a:pPr>
            <a:r>
              <a:t>13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188720"/>
          <a:ext cx="80467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9344"/>
                <a:gridCol w="1609344"/>
                <a:gridCol w="1609344"/>
                <a:gridCol w="1609344"/>
                <a:gridCol w="1609344"/>
              </a:tblGrid>
              <a:tr h="316523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Sign Gesture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F1-Score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Test Samples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16523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Afternoon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0.99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0.99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266</a:t>
                      </a:r>
                    </a:p>
                  </a:txBody>
                  <a:tcPr/>
                </a:tc>
              </a:tr>
              <a:tr h="316523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0.98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0.99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0.99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387</a:t>
                      </a:r>
                    </a:p>
                  </a:txBody>
                  <a:tcPr/>
                </a:tc>
              </a:tr>
              <a:tr h="316523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Boy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290</a:t>
                      </a:r>
                    </a:p>
                  </a:txBody>
                  <a:tcPr/>
                </a:tc>
              </a:tr>
              <a:tr h="316523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0.98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0.95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0.96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428</a:t>
                      </a:r>
                    </a:p>
                  </a:txBody>
                  <a:tcPr/>
                </a:tc>
              </a:tr>
              <a:tr h="316523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0.99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0.99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427</a:t>
                      </a:r>
                    </a:p>
                  </a:txBody>
                  <a:tcPr/>
                </a:tc>
              </a:tr>
              <a:tr h="316523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Monday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212</a:t>
                      </a:r>
                    </a:p>
                  </a:txBody>
                  <a:tcPr/>
                </a:tc>
              </a:tr>
              <a:tr h="316523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0.99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0.98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0.98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401</a:t>
                      </a:r>
                    </a:p>
                  </a:txBody>
                  <a:tcPr/>
                </a:tc>
              </a:tr>
              <a:tr h="316523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Night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322</a:t>
                      </a:r>
                    </a:p>
                  </a:txBody>
                  <a:tcPr/>
                </a:tc>
              </a:tr>
              <a:tr h="316523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People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422</a:t>
                      </a:r>
                    </a:p>
                  </a:txBody>
                  <a:tcPr/>
                </a:tc>
              </a:tr>
              <a:tr h="316523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Person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238</a:t>
                      </a:r>
                    </a:p>
                  </a:txBody>
                  <a:tcPr/>
                </a:tc>
              </a:tr>
              <a:tr h="316523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0.93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0.96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0.95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297</a:t>
                      </a:r>
                    </a:p>
                  </a:txBody>
                  <a:tcPr/>
                </a:tc>
              </a:tr>
              <a:tr h="316524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OVERALL AVG</a:t>
                      </a:r>
                    </a:p>
                  </a:txBody>
                  <a:tcPr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0.99</a:t>
                      </a:r>
                    </a:p>
                  </a:txBody>
                  <a:tcPr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0.99</a:t>
                      </a:r>
                    </a:p>
                  </a:txBody>
                  <a:tcPr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0.99</a:t>
                      </a:r>
                    </a:p>
                  </a:txBody>
                  <a:tcPr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3,690</a:t>
                      </a:r>
                    </a:p>
                  </a:txBody>
                  <a:tcPr>
                    <a:solidFill>
                      <a:srgbClr val="E0F2FE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486400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334155"/>
                </a:solidFill>
                <a:latin typeface="Calibri"/>
              </a:defRPr>
            </a:pPr>
            <a:r>
              <a:t>Table 1: Per-Class Precision, Recall, F1-Score, and Support Sample Counts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Calibri"/>
              </a:defRPr>
            </a:pPr>
            <a:r>
              <a:t>Observations &amp; Result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59436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334155"/>
                </a:solidFill>
                <a:latin typeface="Calibri"/>
              </a:defRPr>
            </a:pPr>
            <a: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Perfect Class Differentiation: </a:t>
            </a:r>
            <a:r>
              <a:rPr sz="1800" b="0">
                <a:solidFill>
                  <a:srgbClr val="334155"/>
                </a:solidFill>
                <a:latin typeface="Calibri"/>
              </a:rPr>
              <a:t>Gestures like 'Boy', 'Monday', 'Night', 'People', and 'Person' achieved 1.00 F1-score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Minor Gesture Overlap: </a:t>
            </a:r>
            <a:r>
              <a:rPr sz="1800" b="0">
                <a:solidFill>
                  <a:srgbClr val="334155"/>
                </a:solidFill>
                <a:latin typeface="Calibri"/>
              </a:rPr>
              <a:t>Slight overlap observed between 'Country' (0.96 F1) and 'Time' (0.95 F1) due to similar arm positions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Signer Position Independence: </a:t>
            </a:r>
            <a:r>
              <a:rPr sz="1800" b="0">
                <a:solidFill>
                  <a:srgbClr val="334155"/>
                </a:solidFill>
                <a:latin typeface="Calibri"/>
              </a:rPr>
              <a:t>Keypoint spatial normalization successfully eliminated distance &amp; clothing variations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Resting State Stability: </a:t>
            </a:r>
            <a:r>
              <a:rPr sz="1800" b="0">
                <a:solidFill>
                  <a:srgbClr val="334155"/>
                </a:solidFill>
                <a:latin typeface="Calibri"/>
              </a:rPr>
              <a:t>Hand gating prevented false random predictions when signer arms were at rest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Audio Responsiveness: </a:t>
            </a:r>
            <a:r>
              <a:rPr sz="1800" b="0">
                <a:solidFill>
                  <a:srgbClr val="334155"/>
                </a:solidFill>
                <a:latin typeface="Calibri"/>
              </a:rPr>
              <a:t>Text-to-speech audio feedback triggered smoothly within ~0.4s of gesture completion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Calibri"/>
              </a:defRPr>
            </a:pPr>
            <a:r>
              <a:t>Conclusion &amp;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59436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334155"/>
                </a:solidFill>
                <a:latin typeface="Calibri"/>
              </a:defRPr>
            </a:pPr>
            <a: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Successful System Delivery: </a:t>
            </a:r>
            <a:r>
              <a:rPr sz="1800" b="0">
                <a:solidFill>
                  <a:srgbClr val="334155"/>
                </a:solidFill>
                <a:latin typeface="Calibri"/>
              </a:rPr>
              <a:t>Built a complete real-time sign language gesture recognition &amp; audio translation system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High Model Performance: </a:t>
            </a:r>
            <a:r>
              <a:rPr sz="1800" b="0">
                <a:solidFill>
                  <a:srgbClr val="334155"/>
                </a:solidFill>
                <a:latin typeface="Calibri"/>
              </a:rPr>
              <a:t>Achieved 98.67% overall test accuracy utilizing MediaPipe keypoints &amp; LSTM architecture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Sign-to-Speech Integration: </a:t>
            </a:r>
            <a:r>
              <a:rPr sz="1800" b="0">
                <a:solidFill>
                  <a:srgbClr val="334155"/>
                </a:solidFill>
                <a:latin typeface="Calibri"/>
              </a:rPr>
              <a:t>Successfully integrated live text display and Pyttsx3 speech audio output for accessibility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Native Desktop Application: </a:t>
            </a:r>
            <a:r>
              <a:rPr sz="1800" b="0">
                <a:solidFill>
                  <a:srgbClr val="334155"/>
                </a:solidFill>
                <a:latin typeface="Calibri"/>
              </a:rPr>
              <a:t>Developed a 100% native Python Tkinter GUI featuring Live View, Recording, &amp; Gallery tabs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Real-World Practicality: </a:t>
            </a:r>
            <a:r>
              <a:rPr sz="1800" b="0">
                <a:solidFill>
                  <a:srgbClr val="334155"/>
                </a:solidFill>
                <a:latin typeface="Calibri"/>
              </a:rPr>
              <a:t>Provides an effective, low-latency communication tool for deaf &amp; hard-of-hearing assistance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Calibri"/>
              </a:defRPr>
            </a:pPr>
            <a:r>
              <a:t>Future Scope &amp;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59436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334155"/>
                </a:solidFill>
                <a:latin typeface="Calibri"/>
              </a:defRPr>
            </a:pPr>
            <a: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Vocabulary Expansion: </a:t>
            </a:r>
            <a:r>
              <a:rPr sz="1800" b="0">
                <a:solidFill>
                  <a:srgbClr val="334155"/>
                </a:solidFill>
                <a:latin typeface="Calibri"/>
              </a:rPr>
              <a:t>Scale vocabulary from 11 signs to full datasets like WLASL (2,000+ signs) or INCLUDE dataset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Sentence-Level Translation: </a:t>
            </a:r>
            <a:r>
              <a:rPr sz="1800" b="0">
                <a:solidFill>
                  <a:srgbClr val="334155"/>
                </a:solidFill>
                <a:latin typeface="Calibri"/>
              </a:rPr>
              <a:t>Extend from word-level gestures to full continuous sentence translation using Transformer models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Mobile &amp; Edge Deployment: </a:t>
            </a:r>
            <a:r>
              <a:rPr sz="1800" b="0">
                <a:solidFill>
                  <a:srgbClr val="334155"/>
                </a:solidFill>
                <a:latin typeface="Calibri"/>
              </a:rPr>
              <a:t>Export model to TensorFlow Lite (TFLite) for deployment on mobile devices &amp; Raspberry Pi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Multi-Language Speech Output: </a:t>
            </a:r>
            <a:r>
              <a:rPr sz="1800" b="0">
                <a:solidFill>
                  <a:srgbClr val="334155"/>
                </a:solidFill>
                <a:latin typeface="Calibri"/>
              </a:rPr>
              <a:t>Add multi-language TTS translation options (e.g. Hindi, Spanish, French audio output)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Dataset Mirror Augmentation: </a:t>
            </a:r>
            <a:r>
              <a:rPr sz="1800" b="0">
                <a:solidFill>
                  <a:srgbClr val="334155"/>
                </a:solidFill>
                <a:latin typeface="Calibri"/>
              </a:rPr>
              <a:t>Incorporate mirror data augmentation for left/right hand signer generalizability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Calibri"/>
              </a:defRPr>
            </a:pPr>
            <a:r>
              <a:t>References &amp; Academic Literature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59436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334155"/>
                </a:solidFill>
                <a:latin typeface="Calibri"/>
              </a:defRPr>
            </a:pPr>
            <a:r>
              <a:t>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0F172A"/>
                </a:solidFill>
                <a:latin typeface="Calibri"/>
              </a:defRPr>
            </a:pPr>
            <a:r>
              <a:t>• 1. MediaPipe Perception Pipeline Framework: </a:t>
            </a:r>
            <a:r>
              <a:rPr sz="1700" b="0">
                <a:solidFill>
                  <a:srgbClr val="334155"/>
                </a:solidFill>
                <a:latin typeface="Calibri"/>
              </a:rPr>
              <a:t>Lugaresi et al., arXiv:1906.08172, 2019.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334155"/>
                </a:solidFill>
                <a:latin typeface="Calibri"/>
              </a:rPr>
              <a:t>   URL: </a:t>
            </a:r>
            <a:r>
              <a:rPr sz="1600" b="1" u="sng">
                <a:solidFill>
                  <a:srgbClr val="0033CC"/>
                </a:solidFill>
                <a:latin typeface="Calibri"/>
                <a:hlinkClick r:id="rId2"/>
              </a:rPr>
              <a:t>https://arxiv.org/abs/1906.08172</a:t>
            </a:r>
          </a:p>
          <a:p>
            <a:pPr>
              <a:spcAft>
                <a:spcPts val="200"/>
              </a:spcAft>
              <a:defRPr sz="1800" b="1">
                <a:solidFill>
                  <a:srgbClr val="0F172A"/>
                </a:solidFill>
                <a:latin typeface="Calibri"/>
              </a:defRPr>
            </a:pPr>
            <a:r>
              <a:t>• 2. Long Short-Term Memory (LSTM) Architecture: </a:t>
            </a:r>
            <a:r>
              <a:rPr sz="1700" b="0">
                <a:solidFill>
                  <a:srgbClr val="334155"/>
                </a:solidFill>
                <a:latin typeface="Calibri"/>
              </a:rPr>
              <a:t>Hochreiter &amp; Schmidhuber, Neural Computation 9(8), 1997.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334155"/>
                </a:solidFill>
                <a:latin typeface="Calibri"/>
              </a:rPr>
              <a:t>   URL: </a:t>
            </a:r>
            <a:r>
              <a:rPr sz="1600" b="1" u="sng">
                <a:solidFill>
                  <a:srgbClr val="0033CC"/>
                </a:solidFill>
                <a:latin typeface="Calibri"/>
                <a:hlinkClick r:id="rId3"/>
              </a:rPr>
              <a:t>https://doi.org/10.1162/neco.1997.9.8.1735</a:t>
            </a:r>
          </a:p>
          <a:p>
            <a:pPr>
              <a:spcAft>
                <a:spcPts val="200"/>
              </a:spcAft>
              <a:defRPr sz="1800" b="1">
                <a:solidFill>
                  <a:srgbClr val="0F172A"/>
                </a:solidFill>
                <a:latin typeface="Calibri"/>
              </a:defRPr>
            </a:pPr>
            <a:r>
              <a:t>• 3. Word-Level Deep Sign Language Recognition: </a:t>
            </a:r>
            <a:r>
              <a:rPr sz="1700" b="0">
                <a:solidFill>
                  <a:srgbClr val="334155"/>
                </a:solidFill>
                <a:latin typeface="Calibri"/>
              </a:rPr>
              <a:t>Li et al., IEEE/CVF CVPR, 2020.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334155"/>
                </a:solidFill>
                <a:latin typeface="Calibri"/>
              </a:rPr>
              <a:t>   URL: </a:t>
            </a:r>
            <a:r>
              <a:rPr sz="1600" b="1" u="sng">
                <a:solidFill>
                  <a:srgbClr val="0033CC"/>
                </a:solidFill>
                <a:latin typeface="Calibri"/>
                <a:hlinkClick r:id="rId4"/>
              </a:rPr>
              <a:t>https://openaccess.thecvf.com/content_CVPR_2020/html/Li_Word-Level_Deep_Sign_Language_Recognition_CVPR_2020_paper.html</a:t>
            </a:r>
          </a:p>
          <a:p>
            <a:pPr>
              <a:spcAft>
                <a:spcPts val="200"/>
              </a:spcAft>
              <a:defRPr sz="1800" b="1">
                <a:solidFill>
                  <a:srgbClr val="0F172A"/>
                </a:solidFill>
                <a:latin typeface="Calibri"/>
              </a:defRPr>
            </a:pPr>
            <a:r>
              <a:t>• 4. Google MediaPipe Vision Landmark Documentation: </a:t>
            </a:r>
            <a:r>
              <a:rPr sz="1700" b="0">
                <a:solidFill>
                  <a:srgbClr val="334155"/>
                </a:solidFill>
                <a:latin typeface="Calibri"/>
              </a:rPr>
              <a:t>Google AI Edge Solutions, Hand &amp; Pose API, 2026.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334155"/>
                </a:solidFill>
                <a:latin typeface="Calibri"/>
              </a:rPr>
              <a:t>   URL: </a:t>
            </a:r>
            <a:r>
              <a:rPr sz="1600" b="1" u="sng">
                <a:solidFill>
                  <a:srgbClr val="0033CC"/>
                </a:solidFill>
                <a:latin typeface="Calibri"/>
                <a:hlinkClick r:id="rId5"/>
              </a:rPr>
              <a:t>https://ai.google.dev/edge/mediapipe/solutions/vision/hand_landmarker</a:t>
            </a:r>
          </a:p>
          <a:p>
            <a:pPr>
              <a:spcAft>
                <a:spcPts val="200"/>
              </a:spcAft>
              <a:defRPr sz="1800" b="1">
                <a:solidFill>
                  <a:srgbClr val="0F172A"/>
                </a:solidFill>
                <a:latin typeface="Calibri"/>
              </a:defRPr>
            </a:pPr>
            <a:r>
              <a:t>• 5. Keras 3 &amp; TensorFlow Recurrent Layers API: </a:t>
            </a:r>
            <a:r>
              <a:rPr sz="1700" b="0">
                <a:solidFill>
                  <a:srgbClr val="334155"/>
                </a:solidFill>
                <a:latin typeface="Calibri"/>
              </a:rPr>
              <a:t>TensorFlow / Keras Documentation, 2026.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334155"/>
                </a:solidFill>
                <a:latin typeface="Calibri"/>
              </a:rPr>
              <a:t>   URL: </a:t>
            </a:r>
            <a:r>
              <a:rPr sz="1600" b="1" u="sng">
                <a:solidFill>
                  <a:srgbClr val="0033CC"/>
                </a:solidFill>
                <a:latin typeface="Calibri"/>
                <a:hlinkClick r:id="rId6"/>
              </a:rPr>
              <a:t>https://keras.io/api/layers/recurrent_layers/lstm/</a:t>
            </a:r>
          </a:p>
          <a:p>
            <a:pPr>
              <a:spcAft>
                <a:spcPts val="200"/>
              </a:spcAft>
              <a:defRPr sz="1800" b="1">
                <a:solidFill>
                  <a:srgbClr val="0F172A"/>
                </a:solidFill>
                <a:latin typeface="Calibri"/>
              </a:defRPr>
            </a:pPr>
            <a:r>
              <a:t>• 6. OpenCV Real-Time Computer Vision Library: </a:t>
            </a:r>
            <a:r>
              <a:rPr sz="1700" b="0">
                <a:solidFill>
                  <a:srgbClr val="334155"/>
                </a:solidFill>
                <a:latin typeface="Calibri"/>
              </a:rPr>
              <a:t>OpenCV Open Source Foundation Documentation, 2026.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334155"/>
                </a:solidFill>
                <a:latin typeface="Calibri"/>
              </a:rPr>
              <a:t>   URL: </a:t>
            </a:r>
            <a:r>
              <a:rPr sz="1600" b="1" u="sng">
                <a:solidFill>
                  <a:srgbClr val="0033CC"/>
                </a:solidFill>
                <a:latin typeface="Calibri"/>
                <a:hlinkClick r:id="rId7"/>
              </a:rPr>
              <a:t>https://docs.opencv.org/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371600"/>
            <a:ext cx="8046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F172A"/>
                </a:solidFill>
                <a:latin typeface="Calibri"/>
              </a:defRPr>
            </a:pPr>
            <a:r>
              <a:t>Thank You!</a:t>
            </a:r>
          </a:p>
          <a:p>
            <a:pPr algn="ctr">
              <a:defRPr sz="2800" b="1">
                <a:solidFill>
                  <a:srgbClr val="0033CC"/>
                </a:solidFill>
                <a:latin typeface="Calibri"/>
              </a:defRPr>
            </a:pPr>
            <a:r>
              <a:t>Questions &amp; Discussion</a:t>
            </a:r>
          </a:p>
          <a:p>
            <a:br/>
            <a:pPr algn="ctr">
              <a:defRPr sz="2000" b="0">
                <a:solidFill>
                  <a:srgbClr val="334155"/>
                </a:solidFill>
                <a:latin typeface="Calibri"/>
              </a:defRPr>
            </a:pPr>
            <a:r>
              <a:t>Presented By: Piyush Tiwari</a:t>
            </a:r>
            <a:br/>
            <a:r>
              <a:t>Roll No: 2100270100000 | 7th Sem, CSE-1</a:t>
            </a:r>
            <a:br/>
            <a:r>
              <a:t>IMS Engineering College, Ghaziabad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33CC"/>
      </a:hlink>
      <a:folHlink>
        <a:srgbClr val="002060"/>
      </a:folHlink>
    </a:clrScheme>
    <a:fontScheme name="Office Theme">
      <a:majorFont>
        <a:latin typeface="Calibri"/>
        <a:ea typeface="Noto Sans CJK SC Regular"/>
        <a:cs typeface="Noto Sans CJK SC Regular"/>
      </a:majorFont>
      <a:minorFont>
        <a:latin typeface="Calibri"/>
        <a:ea typeface="Noto Sans CJK SC Regular"/>
        <a:cs typeface="Noto Sans CJK SC Regula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44958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anose="02020603050405020304" pitchFamily="18" charset="0"/>
          <a:buNone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44958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anose="02020603050405020304" pitchFamily="18" charset="0"/>
          <a:buNone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0033CC"/>
        </a:hlink>
        <a:folHlink>
          <a:srgbClr val="0020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00206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33CC"/>
      </a:hlink>
      <a:folHlink>
        <a:srgbClr val="00206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407</Words>
  <Application>WPS Presentation</Application>
  <PresentationFormat>On-screen Show (4:3)</PresentationFormat>
  <Paragraphs>64</Paragraphs>
  <Slides>8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Slide 1</vt:lpstr>
      <vt:lpstr>Slide 2</vt:lpstr>
      <vt:lpstr>Objectives</vt:lpstr>
      <vt:lpstr>Methodology</vt:lpstr>
      <vt:lpstr>Results &amp; Analysis</vt:lpstr>
      <vt:lpstr>Conclusion &amp; Future Work</vt:lpstr>
      <vt:lpstr>Thank You</vt:lpstr>
      <vt:lpstr>Recommended Font Sizes for Internship PPTs Presentation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Performance Evaluation of Routing Protocol  Under Security Attacks</dc:title>
  <dc:creator>SAINATH</dc:creator>
  <cp:lastModifiedBy>Faculty</cp:lastModifiedBy>
  <cp:revision>368</cp:revision>
  <dcterms:created xsi:type="dcterms:W3CDTF">2012-05-24T06:22:00Z</dcterms:created>
  <dcterms:modified xsi:type="dcterms:W3CDTF">2026-07-14T09:29:41Z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FC636E2E2A264E20A1776DCA2C0207AF_13</vt:lpwstr>
  </property>
  <property fmtid="{D5CDD505-2E9C-101B-9397-08002B2CF9AE}" pid="3" name="KSOProductBuildVer">
    <vt:lpwstr>1033-12.2.0.22222</vt:lpwstr>
  </property>
</Properties>
</file>