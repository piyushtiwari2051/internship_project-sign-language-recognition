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Real-Time Sign Language Recognition &amp; Translation</a:t>
            </a:r>
          </a:p>
          <a:p>
            <a:pPr algn="ctr">
              <a:defRPr sz="2200" b="1">
                <a:solidFill>
                  <a:srgbClr val="0D6EFD"/>
                </a:solidFill>
                <a:latin typeface="Calibri"/>
              </a:defRPr>
            </a:pPr>
            <a:r>
              <a:t>A Pose-Estimation &amp; LSTM Sequence Deep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 b="1">
                <a:solidFill>
                  <a:srgbClr val="334155"/>
                </a:solidFill>
                <a:latin typeface="Calibri"/>
              </a:defRPr>
            </a:pPr>
            <a:r>
              <a:t>Submitted By:</a:t>
            </a:r>
          </a:p>
          <a:p>
            <a:pPr algn="ctr">
              <a:defRPr sz="2600" b="1">
                <a:solidFill>
                  <a:srgbClr val="0F172A"/>
                </a:solidFill>
                <a:latin typeface="Calibri"/>
              </a:defRPr>
            </a:pPr>
            <a:r>
              <a:t>Piyush Tiwari</a:t>
            </a:r>
          </a:p>
          <a:p>
            <a:pPr algn="ctr">
              <a:defRPr sz="1800" b="0">
                <a:solidFill>
                  <a:srgbClr val="334155"/>
                </a:solidFill>
                <a:latin typeface="Calibri"/>
              </a:defRPr>
            </a:pPr>
            <a:r>
              <a:t>Roll No: 2100270100000 | 7th Sem, CSE-1</a:t>
            </a:r>
          </a:p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334155"/>
                </a:solidFill>
                <a:latin typeface="Calibri"/>
              </a:defRPr>
            </a:pPr>
            <a:r>
              <a:t>Supervised By:</a:t>
            </a:r>
          </a:p>
          <a:p>
            <a:pPr algn="ctr">
              <a:defRPr sz="1800" b="0">
                <a:solidFill>
                  <a:srgbClr val="0F172A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</a:p>
          <a:p>
            <a:pPr algn="ctr">
              <a:defRPr sz="2000" b="1">
                <a:solidFill>
                  <a:srgbClr val="334155"/>
                </a:solidFill>
                <a:latin typeface="Calibri"/>
              </a:defRPr>
            </a:pPr>
            <a:r>
              <a:t>Submitted To:</a:t>
            </a:r>
          </a:p>
          <a:p>
            <a:pPr algn="ctr">
              <a:defRPr sz="1800" b="0">
                <a:solidFill>
                  <a:srgbClr val="334155"/>
                </a:solidFill>
                <a:latin typeface="Calibri"/>
              </a:defRPr>
            </a:pPr>
            <a:r>
              <a:t>Mr. Basudeo Singh Roohani | Ms. Swati Singh (Internship Coordinators)</a:t>
            </a:r>
          </a:p>
          <a:p>
            <a:pPr algn="ctr">
              <a:defRPr sz="1600" b="0">
                <a:solidFill>
                  <a:srgbClr val="334155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 algn="ctr">
              <a:defRPr sz="1800" b="1">
                <a:solidFill>
                  <a:srgbClr val="0D6EFD"/>
                </a:solidFill>
                <a:latin typeface="Calibri"/>
              </a:defRPr>
            </a:pPr>
            <a:r>
              <a:t>IMS Engineering College, Ghaziabad, India (2026-27)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20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20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20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20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5. Keypoint Extraction &amp; Normalization: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6. Dataset &amp; Feature Engineering: </a:t>
            </a:r>
            <a:r>
              <a:rPr sz="20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20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8. Desktop GUI &amp; Audio Translation: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Native Python Tkinter application &amp; Pyttsx3 speech synthesis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2000" b="0">
                <a:solidFill>
                  <a:srgbClr val="334155"/>
                </a:solidFill>
                <a:latin typeface="Calibri"/>
              </a:rPr>
              <a:t>Accuracy (98.67%), F1-Score (0.99), &amp; per-class precision table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20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20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20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20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20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20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20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20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20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20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20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20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20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20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Webcam Video Feed</a:t>
            </a:r>
            <a:br/>
            <a:r>
              <a:t>(640x480 @ 15 FPS)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MediaPipe Extraction</a:t>
            </a:r>
            <a:br/>
            <a:r>
              <a:t>(Hands &amp; Pose Joints)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3. Window Aggregation</a:t>
            </a:r>
            <a:br/>
            <a:r>
              <a:t>(0.5s Sliding Window)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4. Feature Normalization</a:t>
            </a:r>
            <a:br/>
            <a:r>
              <a:t>(StandardScaler)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0040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5. Sequence Buffer</a:t>
            </a:r>
            <a:br/>
            <a:r>
              <a:t>(5 Time-Steps)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20040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6. LSTM Classifier</a:t>
            </a:r>
            <a:br/>
            <a:r>
              <a:t>(Keras Neural Net)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2194560" cy="100584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7. GUI &amp; Audio Output</a:t>
            </a:r>
            <a:br/>
            <a:r>
              <a:t>(Hero Card &amp; Speech)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Figure 1: End-to-End System Data Flow &amp; Inference Pipeline Flowchart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20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20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Engineering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20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20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20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20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20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20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20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20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20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20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20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20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20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20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20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20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20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20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20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20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20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20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20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20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3762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376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20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20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20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20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20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20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20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20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20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1000"/>
              </a:spcAft>
              <a:defRPr sz="22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20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4155"/>
                </a:solidFill>
                <a:latin typeface="Calibri"/>
              </a:defRPr>
            </a:pPr>
            <a:r>
              <a:t>• 1. Lugaresi et al., 'MediaPipe: A Framework for Building Perception Pipelines', arXiv:1906.08172, 2019.</a:t>
            </a:r>
          </a:p>
          <a:p>
            <a:pPr>
              <a:spcAft>
                <a:spcPts val="1000"/>
              </a:spcAft>
              <a:defRPr sz="2200" b="0">
                <a:solidFill>
                  <a:srgbClr val="334155"/>
                </a:solidFill>
                <a:latin typeface="Calibri"/>
              </a:defRPr>
            </a:pPr>
            <a:r>
              <a:t>• 2. Hochreiter, S., &amp; Schmidhuber, J., 'Long Short-Term Memory', Neural Computation, 9(8), 1735-1780, 1997.</a:t>
            </a:r>
          </a:p>
          <a:p>
            <a:pPr>
              <a:spcAft>
                <a:spcPts val="1000"/>
              </a:spcAft>
              <a:defRPr sz="2200" b="0">
                <a:solidFill>
                  <a:srgbClr val="334155"/>
                </a:solidFill>
                <a:latin typeface="Calibri"/>
              </a:defRPr>
            </a:pPr>
            <a:r>
              <a:t>• 3. Li, D., et al., 'Word-Level Deep Sign Language Recognition', IEEE/CVF Conference on Computer Vision (CVPR), 2020.</a:t>
            </a:r>
          </a:p>
          <a:p>
            <a:pPr>
              <a:spcAft>
                <a:spcPts val="1000"/>
              </a:spcAft>
              <a:defRPr sz="2200" b="0">
                <a:solidFill>
                  <a:srgbClr val="334155"/>
                </a:solidFill>
                <a:latin typeface="Calibri"/>
              </a:defRPr>
            </a:pPr>
            <a:r>
              <a:t>• 4. Metehan Ozdeniz, 'Sign Language Recognition Dataset &amp; Benchmark', Kaggle Dataset Repository, 2024.</a:t>
            </a:r>
          </a:p>
          <a:p>
            <a:pPr>
              <a:spcAft>
                <a:spcPts val="1000"/>
              </a:spcAft>
              <a:defRPr sz="2200" b="0">
                <a:solidFill>
                  <a:srgbClr val="334155"/>
                </a:solidFill>
                <a:latin typeface="Calibri"/>
              </a:defRPr>
            </a:pPr>
            <a:r>
              <a:t>• 5. Google Keras 3.3 &amp; TensorFlow 2.17 Official Documentation and API Reference, 2026.</a:t>
            </a:r>
          </a:p>
          <a:p>
            <a:pPr>
              <a:spcAft>
                <a:spcPts val="1000"/>
              </a:spcAft>
              <a:defRPr sz="2200" b="0">
                <a:solidFill>
                  <a:srgbClr val="334155"/>
                </a:solidFill>
                <a:latin typeface="Calibri"/>
              </a:defRPr>
            </a:pPr>
            <a:r>
              <a:t>• 6. OpenCV Open Source Computer Vision Library Documentation,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